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8" d="100"/>
          <a:sy n="128" d="100"/>
        </p:scale>
        <p:origin x="22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9749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097280" cy="6858000"/>
          </a:xfrm>
          <a:prstGeom prst="rect">
            <a:avLst/>
          </a:prstGeom>
          <a:solidFill>
            <a:srgbClr val="E1251B"/>
          </a:solidFill>
          <a:ln w="12700">
            <a:solidFill>
              <a:srgbClr val="E1251B"/>
            </a:solidFill>
            <a:prstDash val="solid"/>
          </a:ln>
        </p:spPr>
      </p:sp>
      <p:sp>
        <p:nvSpPr>
          <p:cNvPr id="3" name="Text 1"/>
          <p:cNvSpPr/>
          <p:nvPr/>
        </p:nvSpPr>
        <p:spPr>
          <a:xfrm rot="16200000">
            <a:off x="-2194560" y="3108960"/>
            <a:ext cx="5486400" cy="640080"/>
          </a:xfrm>
          <a:prstGeom prst="rect">
            <a:avLst/>
          </a:prstGeom>
          <a:noFill/>
          <a:ln/>
        </p:spPr>
        <p:txBody>
          <a:bodyPr wrap="square" lIns="0" tIns="0" rIns="0" bIns="0" rtlCol="0" anchor="ctr"/>
          <a:lstStyle/>
          <a:p>
            <a:pPr marL="0" indent="0">
              <a:buNone/>
            </a:pPr>
            <a:r>
              <a:rPr lang="en-US" sz="2200" b="1" kern="0" spc="1400" dirty="0">
                <a:solidFill>
                  <a:srgbClr val="FFFFFF"/>
                </a:solidFill>
                <a:latin typeface="Impact" pitchFamily="34" charset="0"/>
                <a:ea typeface="Impact" pitchFamily="34" charset="-122"/>
                <a:cs typeface="Impact" pitchFamily="34" charset="-120"/>
              </a:rPr>
              <a:t>RESUMIND</a:t>
            </a:r>
            <a:endParaRPr lang="en-US" sz="2200" dirty="0"/>
          </a:p>
        </p:txBody>
      </p:sp>
      <p:sp>
        <p:nvSpPr>
          <p:cNvPr id="4" name="Text 2"/>
          <p:cNvSpPr/>
          <p:nvPr/>
        </p:nvSpPr>
        <p:spPr>
          <a:xfrm>
            <a:off x="1737360" y="914400"/>
            <a:ext cx="7315200" cy="274320"/>
          </a:xfrm>
          <a:prstGeom prst="rect">
            <a:avLst/>
          </a:prstGeom>
          <a:noFill/>
          <a:ln/>
        </p:spPr>
        <p:txBody>
          <a:bodyPr wrap="square" lIns="0" tIns="0" rIns="0" bIns="0" rtlCol="0" anchor="ctr"/>
          <a:lstStyle/>
          <a:p>
            <a:pPr marL="0" indent="0">
              <a:buNone/>
            </a:pPr>
            <a:r>
              <a:rPr lang="en-US" sz="1200" b="1" kern="0" spc="800" dirty="0">
                <a:solidFill>
                  <a:srgbClr val="E1251B"/>
                </a:solidFill>
                <a:latin typeface="Calibri" pitchFamily="34" charset="0"/>
                <a:ea typeface="Calibri" pitchFamily="34" charset="-122"/>
                <a:cs typeface="Calibri" pitchFamily="34" charset="-120"/>
              </a:rPr>
              <a:t>PROJET BIG DATA</a:t>
            </a:r>
            <a:endParaRPr lang="en-US" sz="1200" dirty="0"/>
          </a:p>
        </p:txBody>
      </p:sp>
      <p:sp>
        <p:nvSpPr>
          <p:cNvPr id="5" name="Text 3"/>
          <p:cNvSpPr/>
          <p:nvPr/>
        </p:nvSpPr>
        <p:spPr>
          <a:xfrm>
            <a:off x="1737360" y="1417320"/>
            <a:ext cx="10058400" cy="1463040"/>
          </a:xfrm>
          <a:prstGeom prst="rect">
            <a:avLst/>
          </a:prstGeom>
          <a:noFill/>
          <a:ln/>
        </p:spPr>
        <p:txBody>
          <a:bodyPr wrap="square" lIns="0" tIns="0" rIns="0" bIns="0" rtlCol="0" anchor="ctr"/>
          <a:lstStyle/>
          <a:p>
            <a:pPr marL="0" indent="0">
              <a:buNone/>
            </a:pPr>
            <a:r>
              <a:rPr lang="en-US" sz="11000" b="1" dirty="0">
                <a:solidFill>
                  <a:srgbClr val="0A0F1E"/>
                </a:solidFill>
                <a:latin typeface="Georgia" pitchFamily="34" charset="0"/>
                <a:ea typeface="Georgia" pitchFamily="34" charset="-122"/>
                <a:cs typeface="Georgia" pitchFamily="34" charset="-120"/>
              </a:rPr>
              <a:t>Resumind.</a:t>
            </a:r>
            <a:endParaRPr lang="en-US" sz="11000" dirty="0"/>
          </a:p>
        </p:txBody>
      </p:sp>
      <p:sp>
        <p:nvSpPr>
          <p:cNvPr id="6" name="Text 4"/>
          <p:cNvSpPr/>
          <p:nvPr/>
        </p:nvSpPr>
        <p:spPr>
          <a:xfrm>
            <a:off x="1737360" y="3017520"/>
            <a:ext cx="10058400" cy="822960"/>
          </a:xfrm>
          <a:prstGeom prst="rect">
            <a:avLst/>
          </a:prstGeom>
          <a:noFill/>
          <a:ln/>
        </p:spPr>
        <p:txBody>
          <a:bodyPr wrap="square" lIns="0" tIns="0" rIns="0" bIns="0" rtlCol="0" anchor="ctr"/>
          <a:lstStyle/>
          <a:p>
            <a:pPr marL="0" indent="0">
              <a:buNone/>
            </a:pPr>
            <a:r>
              <a:rPr lang="en-US" sz="3800" dirty="0">
                <a:solidFill>
                  <a:srgbClr val="0A0F1E"/>
                </a:solidFill>
                <a:latin typeface="Georgia" pitchFamily="34" charset="0"/>
                <a:ea typeface="Georgia" pitchFamily="34" charset="-122"/>
                <a:cs typeface="Georgia" pitchFamily="34" charset="-120"/>
              </a:rPr>
              <a:t>Le tri intelligent des CV,</a:t>
            </a:r>
            <a:endParaRPr lang="en-US" sz="3800" dirty="0"/>
          </a:p>
        </p:txBody>
      </p:sp>
      <p:sp>
        <p:nvSpPr>
          <p:cNvPr id="7" name="Text 5"/>
          <p:cNvSpPr/>
          <p:nvPr/>
        </p:nvSpPr>
        <p:spPr>
          <a:xfrm>
            <a:off x="1737360" y="3611880"/>
            <a:ext cx="10058400" cy="822960"/>
          </a:xfrm>
          <a:prstGeom prst="rect">
            <a:avLst/>
          </a:prstGeom>
          <a:noFill/>
          <a:ln/>
        </p:spPr>
        <p:txBody>
          <a:bodyPr wrap="square" lIns="0" tIns="0" rIns="0" bIns="0" rtlCol="0" anchor="ctr"/>
          <a:lstStyle/>
          <a:p>
            <a:pPr marL="0" indent="0">
              <a:buNone/>
            </a:pPr>
            <a:r>
              <a:rPr lang="en-US" sz="3800" dirty="0">
                <a:solidFill>
                  <a:srgbClr val="0A0F1E"/>
                </a:solidFill>
                <a:latin typeface="Georgia" pitchFamily="34" charset="0"/>
                <a:ea typeface="Georgia" pitchFamily="34" charset="-122"/>
                <a:cs typeface="Georgia" pitchFamily="34" charset="-120"/>
              </a:rPr>
              <a:t>à la vitesse du </a:t>
            </a:r>
            <a:r>
              <a:rPr lang="en-US" sz="3800" i="1" dirty="0">
                <a:solidFill>
                  <a:srgbClr val="E1251B"/>
                </a:solidFill>
                <a:latin typeface="Georgia" pitchFamily="34" charset="0"/>
                <a:ea typeface="Georgia" pitchFamily="34" charset="-122"/>
                <a:cs typeface="Georgia" pitchFamily="34" charset="-120"/>
              </a:rPr>
              <a:t>Big Data.</a:t>
            </a:r>
            <a:endParaRPr lang="en-US" sz="3800" dirty="0"/>
          </a:p>
        </p:txBody>
      </p:sp>
      <p:sp>
        <p:nvSpPr>
          <p:cNvPr id="8" name="Shape 6"/>
          <p:cNvSpPr/>
          <p:nvPr/>
        </p:nvSpPr>
        <p:spPr>
          <a:xfrm>
            <a:off x="1737360" y="5989320"/>
            <a:ext cx="10058400" cy="36576"/>
          </a:xfrm>
          <a:prstGeom prst="rect">
            <a:avLst/>
          </a:prstGeom>
          <a:solidFill>
            <a:srgbClr val="0A0F1E"/>
          </a:solidFill>
          <a:ln w="12700">
            <a:solidFill>
              <a:srgbClr val="0A0F1E"/>
            </a:solidFill>
            <a:prstDash val="solid"/>
          </a:ln>
        </p:spPr>
      </p:sp>
      <p:sp>
        <p:nvSpPr>
          <p:cNvPr id="9" name="Text 7"/>
          <p:cNvSpPr/>
          <p:nvPr/>
        </p:nvSpPr>
        <p:spPr>
          <a:xfrm>
            <a:off x="1737360" y="6126480"/>
            <a:ext cx="10058400" cy="365760"/>
          </a:xfrm>
          <a:prstGeom prst="rect">
            <a:avLst/>
          </a:prstGeom>
          <a:noFill/>
          <a:ln/>
        </p:spPr>
        <p:txBody>
          <a:bodyPr wrap="square" lIns="0" tIns="0" rIns="0" bIns="0" rtlCol="0" anchor="ctr"/>
          <a:lstStyle/>
          <a:p>
            <a:pPr marL="0" indent="0">
              <a:buNone/>
            </a:pPr>
            <a:r>
              <a:rPr lang="en-US" sz="1100" b="1" kern="0" spc="400" dirty="0">
                <a:solidFill>
                  <a:srgbClr val="0A0F1E"/>
                </a:solidFill>
                <a:latin typeface="Calibri" pitchFamily="34" charset="0"/>
                <a:ea typeface="Calibri" pitchFamily="34" charset="-122"/>
                <a:cs typeface="Calibri" pitchFamily="34" charset="-120"/>
              </a:rPr>
              <a:t>AMINE AMMOR   ·   RIM AKRACHE   ·   UNIVERSITÉ MUNDIAPOLIS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457200" y="457200"/>
            <a:ext cx="164592" cy="457200"/>
          </a:xfrm>
          <a:prstGeom prst="rect">
            <a:avLst/>
          </a:prstGeom>
          <a:solidFill>
            <a:srgbClr val="E1251B"/>
          </a:solidFill>
          <a:ln w="12700">
            <a:solidFill>
              <a:srgbClr val="E1251B"/>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600" dirty="0">
                <a:solidFill>
                  <a:srgbClr val="E1251B"/>
                </a:solidFill>
                <a:latin typeface="Calibri" pitchFamily="34" charset="0"/>
                <a:ea typeface="Calibri" pitchFamily="34" charset="-122"/>
                <a:cs typeface="Calibri" pitchFamily="34" charset="-120"/>
              </a:rPr>
              <a:t>LE PROBLÈME</a:t>
            </a:r>
            <a:endParaRPr lang="en-US" sz="1100" dirty="0"/>
          </a:p>
        </p:txBody>
      </p:sp>
      <p:sp>
        <p:nvSpPr>
          <p:cNvPr id="4" name="Text 2"/>
          <p:cNvSpPr/>
          <p:nvPr/>
        </p:nvSpPr>
        <p:spPr>
          <a:xfrm>
            <a:off x="777240" y="914400"/>
            <a:ext cx="10972800" cy="1097280"/>
          </a:xfrm>
          <a:prstGeom prst="rect">
            <a:avLst/>
          </a:prstGeom>
          <a:noFill/>
          <a:ln/>
        </p:spPr>
        <p:txBody>
          <a:bodyPr wrap="square" lIns="0" tIns="0" rIns="0" bIns="0" rtlCol="0" anchor="ctr"/>
          <a:lstStyle/>
          <a:p>
            <a:pPr marL="0" indent="0">
              <a:buNone/>
            </a:pPr>
            <a:r>
              <a:rPr lang="en-US" sz="5400" dirty="0">
                <a:solidFill>
                  <a:srgbClr val="0A0F1E"/>
                </a:solidFill>
                <a:latin typeface="Georgia" pitchFamily="34" charset="0"/>
                <a:ea typeface="Georgia" pitchFamily="34" charset="-122"/>
                <a:cs typeface="Georgia" pitchFamily="34" charset="-120"/>
              </a:rPr>
              <a:t>Les recruteurs </a:t>
            </a:r>
            <a:r>
              <a:rPr lang="en-US" sz="5400" i="1" dirty="0">
                <a:solidFill>
                  <a:srgbClr val="E1251B"/>
                </a:solidFill>
                <a:latin typeface="Georgia" pitchFamily="34" charset="0"/>
                <a:ea typeface="Georgia" pitchFamily="34" charset="-122"/>
                <a:cs typeface="Georgia" pitchFamily="34" charset="-120"/>
              </a:rPr>
              <a:t>noient </a:t>
            </a:r>
            <a:r>
              <a:rPr lang="en-US" sz="5400" dirty="0">
                <a:solidFill>
                  <a:srgbClr val="0A0F1E"/>
                </a:solidFill>
                <a:latin typeface="Georgia" pitchFamily="34" charset="0"/>
                <a:ea typeface="Georgia" pitchFamily="34" charset="-122"/>
                <a:cs typeface="Georgia" pitchFamily="34" charset="-120"/>
              </a:rPr>
              <a:t>sous les CV.</a:t>
            </a:r>
            <a:endParaRPr lang="en-US" sz="5400" dirty="0"/>
          </a:p>
        </p:txBody>
      </p:sp>
      <p:sp>
        <p:nvSpPr>
          <p:cNvPr id="5" name="Text 3"/>
          <p:cNvSpPr/>
          <p:nvPr/>
        </p:nvSpPr>
        <p:spPr>
          <a:xfrm>
            <a:off x="777240" y="2926080"/>
            <a:ext cx="3474720" cy="1097280"/>
          </a:xfrm>
          <a:prstGeom prst="rect">
            <a:avLst/>
          </a:prstGeom>
          <a:noFill/>
          <a:ln/>
        </p:spPr>
        <p:txBody>
          <a:bodyPr wrap="square" lIns="0" tIns="0" rIns="0" bIns="0" rtlCol="0" anchor="t"/>
          <a:lstStyle/>
          <a:p>
            <a:pPr marL="0" indent="0">
              <a:buNone/>
            </a:pPr>
            <a:r>
              <a:rPr lang="en-US" sz="7200" b="1" dirty="0">
                <a:solidFill>
                  <a:srgbClr val="E1251B"/>
                </a:solidFill>
                <a:latin typeface="Georgia" pitchFamily="34" charset="0"/>
                <a:ea typeface="Georgia" pitchFamily="34" charset="-122"/>
                <a:cs typeface="Georgia" pitchFamily="34" charset="-120"/>
              </a:rPr>
              <a:t>250+</a:t>
            </a:r>
            <a:endParaRPr lang="en-US" sz="7200" dirty="0"/>
          </a:p>
        </p:txBody>
      </p:sp>
      <p:sp>
        <p:nvSpPr>
          <p:cNvPr id="6" name="Text 4"/>
          <p:cNvSpPr/>
          <p:nvPr/>
        </p:nvSpPr>
        <p:spPr>
          <a:xfrm>
            <a:off x="777240" y="4114800"/>
            <a:ext cx="3474720" cy="914400"/>
          </a:xfrm>
          <a:prstGeom prst="rect">
            <a:avLst/>
          </a:prstGeom>
          <a:noFill/>
          <a:ln/>
        </p:spPr>
        <p:txBody>
          <a:bodyPr wrap="square" lIns="0" tIns="0" rIns="0" bIns="0" rtlCol="0" anchor="ctr"/>
          <a:lstStyle/>
          <a:p>
            <a:pPr marL="0" indent="0">
              <a:lnSpc>
                <a:spcPct val="135000"/>
              </a:lnSpc>
              <a:buNone/>
            </a:pPr>
            <a:r>
              <a:rPr lang="en-US" sz="1300" dirty="0">
                <a:solidFill>
                  <a:srgbClr val="4A5063"/>
                </a:solidFill>
                <a:latin typeface="Calibri" pitchFamily="34" charset="0"/>
                <a:ea typeface="Calibri" pitchFamily="34" charset="-122"/>
                <a:cs typeface="Calibri" pitchFamily="34" charset="-120"/>
              </a:rPr>
              <a:t>Candidatures par offre</a:t>
            </a:r>
            <a:endParaRPr lang="en-US" sz="1300" dirty="0"/>
          </a:p>
          <a:p>
            <a:pPr marL="0" indent="0">
              <a:lnSpc>
                <a:spcPct val="135000"/>
              </a:lnSpc>
              <a:buNone/>
            </a:pPr>
            <a:r>
              <a:rPr lang="en-US" sz="1300" dirty="0">
                <a:solidFill>
                  <a:srgbClr val="4A5063"/>
                </a:solidFill>
                <a:latin typeface="Calibri" pitchFamily="34" charset="0"/>
                <a:ea typeface="Calibri" pitchFamily="34" charset="-122"/>
                <a:cs typeface="Calibri" pitchFamily="34" charset="-120"/>
              </a:rPr>
              <a:t>en moyenne, en entreprise</a:t>
            </a:r>
            <a:endParaRPr lang="en-US" sz="1300" dirty="0"/>
          </a:p>
        </p:txBody>
      </p:sp>
      <p:sp>
        <p:nvSpPr>
          <p:cNvPr id="7" name="Text 5"/>
          <p:cNvSpPr/>
          <p:nvPr/>
        </p:nvSpPr>
        <p:spPr>
          <a:xfrm>
            <a:off x="4572000" y="2926080"/>
            <a:ext cx="3474720" cy="1097280"/>
          </a:xfrm>
          <a:prstGeom prst="rect">
            <a:avLst/>
          </a:prstGeom>
          <a:noFill/>
          <a:ln/>
        </p:spPr>
        <p:txBody>
          <a:bodyPr wrap="square" lIns="0" tIns="0" rIns="0" bIns="0" rtlCol="0" anchor="t"/>
          <a:lstStyle/>
          <a:p>
            <a:pPr marL="0" indent="0">
              <a:buNone/>
            </a:pPr>
            <a:r>
              <a:rPr lang="en-US" sz="7200" b="1" dirty="0">
                <a:solidFill>
                  <a:srgbClr val="E1251B"/>
                </a:solidFill>
                <a:latin typeface="Georgia" pitchFamily="34" charset="0"/>
                <a:ea typeface="Georgia" pitchFamily="34" charset="-122"/>
                <a:cs typeface="Georgia" pitchFamily="34" charset="-120"/>
              </a:rPr>
              <a:t>23h</a:t>
            </a:r>
            <a:endParaRPr lang="en-US" sz="7200" dirty="0"/>
          </a:p>
        </p:txBody>
      </p:sp>
      <p:sp>
        <p:nvSpPr>
          <p:cNvPr id="8" name="Text 6"/>
          <p:cNvSpPr/>
          <p:nvPr/>
        </p:nvSpPr>
        <p:spPr>
          <a:xfrm>
            <a:off x="4572000" y="4114800"/>
            <a:ext cx="3474720" cy="914400"/>
          </a:xfrm>
          <a:prstGeom prst="rect">
            <a:avLst/>
          </a:prstGeom>
          <a:noFill/>
          <a:ln/>
        </p:spPr>
        <p:txBody>
          <a:bodyPr wrap="square" lIns="0" tIns="0" rIns="0" bIns="0" rtlCol="0" anchor="ctr"/>
          <a:lstStyle/>
          <a:p>
            <a:pPr marL="0" indent="0">
              <a:lnSpc>
                <a:spcPct val="135000"/>
              </a:lnSpc>
              <a:buNone/>
            </a:pPr>
            <a:r>
              <a:rPr lang="en-US" sz="1300" dirty="0">
                <a:solidFill>
                  <a:srgbClr val="4A5063"/>
                </a:solidFill>
                <a:latin typeface="Calibri" pitchFamily="34" charset="0"/>
                <a:ea typeface="Calibri" pitchFamily="34" charset="-122"/>
                <a:cs typeface="Calibri" pitchFamily="34" charset="-120"/>
              </a:rPr>
              <a:t>Temps passé par un recruteur</a:t>
            </a:r>
            <a:endParaRPr lang="en-US" sz="1300" dirty="0"/>
          </a:p>
          <a:p>
            <a:pPr marL="0" indent="0">
              <a:lnSpc>
                <a:spcPct val="135000"/>
              </a:lnSpc>
              <a:buNone/>
            </a:pPr>
            <a:r>
              <a:rPr lang="en-US" sz="1300" dirty="0">
                <a:solidFill>
                  <a:srgbClr val="4A5063"/>
                </a:solidFill>
                <a:latin typeface="Calibri" pitchFamily="34" charset="0"/>
                <a:ea typeface="Calibri" pitchFamily="34" charset="-122"/>
                <a:cs typeface="Calibri" pitchFamily="34" charset="-120"/>
              </a:rPr>
              <a:t>à trier les CV d'un seul poste</a:t>
            </a:r>
            <a:endParaRPr lang="en-US" sz="1300" dirty="0"/>
          </a:p>
        </p:txBody>
      </p:sp>
      <p:sp>
        <p:nvSpPr>
          <p:cNvPr id="9" name="Text 7"/>
          <p:cNvSpPr/>
          <p:nvPr/>
        </p:nvSpPr>
        <p:spPr>
          <a:xfrm>
            <a:off x="8366760" y="2926080"/>
            <a:ext cx="3474720" cy="1097280"/>
          </a:xfrm>
          <a:prstGeom prst="rect">
            <a:avLst/>
          </a:prstGeom>
          <a:noFill/>
          <a:ln/>
        </p:spPr>
        <p:txBody>
          <a:bodyPr wrap="square" lIns="0" tIns="0" rIns="0" bIns="0" rtlCol="0" anchor="t"/>
          <a:lstStyle/>
          <a:p>
            <a:pPr marL="0" indent="0">
              <a:buNone/>
            </a:pPr>
            <a:r>
              <a:rPr lang="en-US" sz="7200" b="1" dirty="0">
                <a:solidFill>
                  <a:srgbClr val="E1251B"/>
                </a:solidFill>
                <a:latin typeface="Georgia" pitchFamily="34" charset="0"/>
                <a:ea typeface="Georgia" pitchFamily="34" charset="-122"/>
                <a:cs typeface="Georgia" pitchFamily="34" charset="-120"/>
              </a:rPr>
              <a:t>75%</a:t>
            </a:r>
            <a:endParaRPr lang="en-US" sz="7200" dirty="0"/>
          </a:p>
        </p:txBody>
      </p:sp>
      <p:sp>
        <p:nvSpPr>
          <p:cNvPr id="10" name="Text 8"/>
          <p:cNvSpPr/>
          <p:nvPr/>
        </p:nvSpPr>
        <p:spPr>
          <a:xfrm>
            <a:off x="8366760" y="4114800"/>
            <a:ext cx="3474720" cy="914400"/>
          </a:xfrm>
          <a:prstGeom prst="rect">
            <a:avLst/>
          </a:prstGeom>
          <a:noFill/>
          <a:ln/>
        </p:spPr>
        <p:txBody>
          <a:bodyPr wrap="square" lIns="0" tIns="0" rIns="0" bIns="0" rtlCol="0" anchor="ctr"/>
          <a:lstStyle/>
          <a:p>
            <a:pPr marL="0" indent="0">
              <a:lnSpc>
                <a:spcPct val="135000"/>
              </a:lnSpc>
              <a:buNone/>
            </a:pPr>
            <a:r>
              <a:rPr lang="en-US" sz="1300" dirty="0">
                <a:solidFill>
                  <a:srgbClr val="4A5063"/>
                </a:solidFill>
                <a:latin typeface="Calibri" pitchFamily="34" charset="0"/>
                <a:ea typeface="Calibri" pitchFamily="34" charset="-122"/>
                <a:cs typeface="Calibri" pitchFamily="34" charset="-120"/>
              </a:rPr>
              <a:t>Des candidats qualifiés</a:t>
            </a:r>
            <a:endParaRPr lang="en-US" sz="1300" dirty="0"/>
          </a:p>
          <a:p>
            <a:pPr marL="0" indent="0">
              <a:lnSpc>
                <a:spcPct val="135000"/>
              </a:lnSpc>
              <a:buNone/>
            </a:pPr>
            <a:r>
              <a:rPr lang="en-US" sz="1300" dirty="0">
                <a:solidFill>
                  <a:srgbClr val="4A5063"/>
                </a:solidFill>
                <a:latin typeface="Calibri" pitchFamily="34" charset="0"/>
                <a:ea typeface="Calibri" pitchFamily="34" charset="-122"/>
                <a:cs typeface="Calibri" pitchFamily="34" charset="-120"/>
              </a:rPr>
              <a:t>ratés par les filtres mots-clés</a:t>
            </a:r>
            <a:endParaRPr lang="en-US" sz="1300" dirty="0"/>
          </a:p>
        </p:txBody>
      </p:sp>
      <p:sp>
        <p:nvSpPr>
          <p:cNvPr id="11" name="Shape 9"/>
          <p:cNvSpPr/>
          <p:nvPr/>
        </p:nvSpPr>
        <p:spPr>
          <a:xfrm>
            <a:off x="777240" y="5577840"/>
            <a:ext cx="10607040" cy="685800"/>
          </a:xfrm>
          <a:prstGeom prst="rect">
            <a:avLst/>
          </a:prstGeom>
          <a:solidFill>
            <a:srgbClr val="FCEFC7"/>
          </a:solidFill>
          <a:ln w="12700">
            <a:solidFill>
              <a:srgbClr val="E8B91A"/>
            </a:solidFill>
            <a:prstDash val="solid"/>
          </a:ln>
        </p:spPr>
      </p:sp>
      <p:sp>
        <p:nvSpPr>
          <p:cNvPr id="12" name="Shape 10"/>
          <p:cNvSpPr/>
          <p:nvPr/>
        </p:nvSpPr>
        <p:spPr>
          <a:xfrm>
            <a:off x="777240" y="5577840"/>
            <a:ext cx="91440" cy="685800"/>
          </a:xfrm>
          <a:prstGeom prst="rect">
            <a:avLst/>
          </a:prstGeom>
          <a:solidFill>
            <a:srgbClr val="E1251B"/>
          </a:solidFill>
          <a:ln w="12700">
            <a:solidFill>
              <a:srgbClr val="E1251B"/>
            </a:solidFill>
            <a:prstDash val="solid"/>
          </a:ln>
        </p:spPr>
      </p:sp>
      <p:sp>
        <p:nvSpPr>
          <p:cNvPr id="13" name="Text 11"/>
          <p:cNvSpPr/>
          <p:nvPr/>
        </p:nvSpPr>
        <p:spPr>
          <a:xfrm>
            <a:off x="1051560" y="5577840"/>
            <a:ext cx="10241280" cy="685800"/>
          </a:xfrm>
          <a:prstGeom prst="rect">
            <a:avLst/>
          </a:prstGeom>
          <a:noFill/>
          <a:ln/>
        </p:spPr>
        <p:txBody>
          <a:bodyPr wrap="square" lIns="0" tIns="0" rIns="0" bIns="0" rtlCol="0" anchor="ctr"/>
          <a:lstStyle/>
          <a:p>
            <a:pPr marL="0" indent="0">
              <a:buNone/>
            </a:pPr>
            <a:r>
              <a:rPr lang="en-US" sz="1400" i="1" dirty="0">
                <a:solidFill>
                  <a:srgbClr val="0A0F1E"/>
                </a:solidFill>
                <a:latin typeface="Calibri" pitchFamily="34" charset="0"/>
                <a:ea typeface="Calibri" pitchFamily="34" charset="-122"/>
                <a:cs typeface="Calibri" pitchFamily="34" charset="-120"/>
              </a:rPr>
              <a:t>Et le ML générique n'aide pas — un CV d'infirmière battra un CV de développeur React médiocre, à chaque fois.</a:t>
            </a:r>
            <a:endParaRPr lang="en-US" sz="1400" dirty="0"/>
          </a:p>
        </p:txBody>
      </p:sp>
      <p:sp>
        <p:nvSpPr>
          <p:cNvPr id="14" name="Text 12"/>
          <p:cNvSpPr/>
          <p:nvPr/>
        </p:nvSpPr>
        <p:spPr>
          <a:xfrm>
            <a:off x="457200" y="6400800"/>
            <a:ext cx="5486400" cy="274320"/>
          </a:xfrm>
          <a:prstGeom prst="rect">
            <a:avLst/>
          </a:prstGeom>
          <a:noFill/>
          <a:ln/>
        </p:spPr>
        <p:txBody>
          <a:bodyPr wrap="square" rtlCol="0" anchor="ctr"/>
          <a:lstStyle/>
          <a:p>
            <a:pPr marL="0" indent="0">
              <a:buNone/>
            </a:pPr>
            <a:r>
              <a:rPr lang="en-US" sz="900" b="1" kern="0" spc="400" dirty="0">
                <a:solidFill>
                  <a:srgbClr val="8B8F9C"/>
                </a:solidFill>
                <a:latin typeface="Calibri" pitchFamily="34" charset="0"/>
                <a:ea typeface="Calibri" pitchFamily="34" charset="-122"/>
                <a:cs typeface="Calibri" pitchFamily="34" charset="-120"/>
              </a:rPr>
              <a:t>RESUMIND  ·  2/12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457200" y="457200"/>
            <a:ext cx="164592" cy="457200"/>
          </a:xfrm>
          <a:prstGeom prst="rect">
            <a:avLst/>
          </a:prstGeom>
          <a:solidFill>
            <a:srgbClr val="E1251B"/>
          </a:solidFill>
          <a:ln w="12700">
            <a:solidFill>
              <a:srgbClr val="E1251B"/>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600" dirty="0">
                <a:solidFill>
                  <a:srgbClr val="E1251B"/>
                </a:solidFill>
                <a:latin typeface="Calibri" pitchFamily="34" charset="0"/>
                <a:ea typeface="Calibri" pitchFamily="34" charset="-122"/>
                <a:cs typeface="Calibri" pitchFamily="34" charset="-120"/>
              </a:rPr>
              <a:t>LA SOLUTION</a:t>
            </a:r>
            <a:endParaRPr lang="en-US" sz="1100" dirty="0"/>
          </a:p>
        </p:txBody>
      </p:sp>
      <p:sp>
        <p:nvSpPr>
          <p:cNvPr id="4" name="Text 2"/>
          <p:cNvSpPr/>
          <p:nvPr/>
        </p:nvSpPr>
        <p:spPr>
          <a:xfrm>
            <a:off x="777240" y="914400"/>
            <a:ext cx="10972800" cy="1188720"/>
          </a:xfrm>
          <a:prstGeom prst="rect">
            <a:avLst/>
          </a:prstGeom>
          <a:noFill/>
          <a:ln/>
        </p:spPr>
        <p:txBody>
          <a:bodyPr wrap="square" lIns="0" tIns="0" rIns="0" bIns="0" rtlCol="0" anchor="ctr"/>
          <a:lstStyle/>
          <a:p>
            <a:pPr marL="0" indent="0">
              <a:buNone/>
            </a:pPr>
            <a:r>
              <a:rPr lang="en-US" sz="4000" dirty="0">
                <a:solidFill>
                  <a:srgbClr val="0A0F1E"/>
                </a:solidFill>
                <a:latin typeface="Georgia" pitchFamily="34" charset="0"/>
                <a:ea typeface="Georgia" pitchFamily="34" charset="-122"/>
                <a:cs typeface="Georgia" pitchFamily="34" charset="-120"/>
              </a:rPr>
              <a:t>Évaluer chaque CV par rapport à </a:t>
            </a:r>
            <a:r>
              <a:rPr lang="en-US" sz="4000" i="1" dirty="0">
                <a:solidFill>
                  <a:srgbClr val="E1251B"/>
                </a:solidFill>
                <a:latin typeface="Georgia" pitchFamily="34" charset="0"/>
                <a:ea typeface="Georgia" pitchFamily="34" charset="-122"/>
                <a:cs typeface="Georgia" pitchFamily="34" charset="-120"/>
              </a:rPr>
              <a:t>ce </a:t>
            </a:r>
            <a:r>
              <a:rPr lang="en-US" sz="4000" dirty="0">
                <a:solidFill>
                  <a:srgbClr val="0A0F1E"/>
                </a:solidFill>
                <a:latin typeface="Georgia" pitchFamily="34" charset="0"/>
                <a:ea typeface="Georgia" pitchFamily="34" charset="-122"/>
                <a:cs typeface="Georgia" pitchFamily="34" charset="-120"/>
              </a:rPr>
              <a:t>poste.</a:t>
            </a:r>
            <a:endParaRPr lang="en-US" sz="4000" dirty="0"/>
          </a:p>
        </p:txBody>
      </p:sp>
      <p:sp>
        <p:nvSpPr>
          <p:cNvPr id="5" name="Text 3"/>
          <p:cNvSpPr/>
          <p:nvPr/>
        </p:nvSpPr>
        <p:spPr>
          <a:xfrm>
            <a:off x="777240" y="2240280"/>
            <a:ext cx="10607040" cy="914400"/>
          </a:xfrm>
          <a:prstGeom prst="rect">
            <a:avLst/>
          </a:prstGeom>
          <a:noFill/>
          <a:ln/>
        </p:spPr>
        <p:txBody>
          <a:bodyPr wrap="square" lIns="0" tIns="0" rIns="0" bIns="0" rtlCol="0" anchor="ctr"/>
          <a:lstStyle/>
          <a:p>
            <a:pPr marL="0" indent="0">
              <a:lnSpc>
                <a:spcPct val="140000"/>
              </a:lnSpc>
              <a:buNone/>
            </a:pPr>
            <a:r>
              <a:rPr lang="en-US" sz="1500" dirty="0">
                <a:solidFill>
                  <a:srgbClr val="4A5063"/>
                </a:solidFill>
                <a:latin typeface="Calibri" pitchFamily="34" charset="0"/>
                <a:ea typeface="Calibri" pitchFamily="34" charset="-122"/>
                <a:cs typeface="Calibri" pitchFamily="34" charset="-120"/>
              </a:rPr>
              <a:t>Pas aux postes en général. Resumind lit la fiche de poste réelle du recruteur, puis fait passer chaque candidat par deux modèles complémentaires — un pour la qualité du CV, un pour l'adéquation au poste — et fusionne les deux scores en une décision unique.</a:t>
            </a:r>
            <a:endParaRPr lang="en-US" sz="1500" dirty="0"/>
          </a:p>
        </p:txBody>
      </p:sp>
      <p:sp>
        <p:nvSpPr>
          <p:cNvPr id="6" name="Shape 4"/>
          <p:cNvSpPr/>
          <p:nvPr/>
        </p:nvSpPr>
        <p:spPr>
          <a:xfrm>
            <a:off x="777240" y="3657600"/>
            <a:ext cx="3566160" cy="2286000"/>
          </a:xfrm>
          <a:prstGeom prst="rect">
            <a:avLst/>
          </a:prstGeom>
          <a:solidFill>
            <a:srgbClr val="FFFFFF"/>
          </a:solidFill>
          <a:ln w="12700">
            <a:solidFill>
              <a:srgbClr val="E5E2D9"/>
            </a:solidFill>
            <a:prstDash val="solid"/>
          </a:ln>
        </p:spPr>
      </p:sp>
      <p:sp>
        <p:nvSpPr>
          <p:cNvPr id="7" name="Shape 5"/>
          <p:cNvSpPr/>
          <p:nvPr/>
        </p:nvSpPr>
        <p:spPr>
          <a:xfrm>
            <a:off x="777240" y="3657600"/>
            <a:ext cx="3566160" cy="73152"/>
          </a:xfrm>
          <a:prstGeom prst="rect">
            <a:avLst/>
          </a:prstGeom>
          <a:solidFill>
            <a:srgbClr val="E1251B"/>
          </a:solidFill>
          <a:ln w="12700">
            <a:solidFill>
              <a:srgbClr val="E1251B"/>
            </a:solidFill>
            <a:prstDash val="solid"/>
          </a:ln>
        </p:spPr>
      </p:sp>
      <p:sp>
        <p:nvSpPr>
          <p:cNvPr id="8" name="Text 6"/>
          <p:cNvSpPr/>
          <p:nvPr/>
        </p:nvSpPr>
        <p:spPr>
          <a:xfrm>
            <a:off x="1005840" y="3886200"/>
            <a:ext cx="914400" cy="457200"/>
          </a:xfrm>
          <a:prstGeom prst="rect">
            <a:avLst/>
          </a:prstGeom>
          <a:noFill/>
          <a:ln/>
        </p:spPr>
        <p:txBody>
          <a:bodyPr wrap="square" lIns="0" tIns="0" rIns="0" bIns="0" rtlCol="0" anchor="ctr"/>
          <a:lstStyle/>
          <a:p>
            <a:pPr marL="0" indent="0">
              <a:buNone/>
            </a:pPr>
            <a:r>
              <a:rPr lang="en-US" sz="1600" b="1" i="1" dirty="0">
                <a:solidFill>
                  <a:srgbClr val="E1251B"/>
                </a:solidFill>
                <a:latin typeface="Georgia" pitchFamily="34" charset="0"/>
                <a:ea typeface="Georgia" pitchFamily="34" charset="-122"/>
                <a:cs typeface="Georgia" pitchFamily="34" charset="-120"/>
              </a:rPr>
              <a:t>01</a:t>
            </a:r>
            <a:endParaRPr lang="en-US" sz="1600" dirty="0"/>
          </a:p>
        </p:txBody>
      </p:sp>
      <p:sp>
        <p:nvSpPr>
          <p:cNvPr id="9" name="Text 7"/>
          <p:cNvSpPr/>
          <p:nvPr/>
        </p:nvSpPr>
        <p:spPr>
          <a:xfrm>
            <a:off x="1005840" y="4297680"/>
            <a:ext cx="3200400" cy="548640"/>
          </a:xfrm>
          <a:prstGeom prst="rect">
            <a:avLst/>
          </a:prstGeom>
          <a:noFill/>
          <a:ln/>
        </p:spPr>
        <p:txBody>
          <a:bodyPr wrap="square" lIns="0" tIns="0" rIns="0" bIns="0" rtlCol="0" anchor="ctr"/>
          <a:lstStyle/>
          <a:p>
            <a:pPr marL="0" indent="0">
              <a:buNone/>
            </a:pPr>
            <a:r>
              <a:rPr lang="en-US" sz="2000" b="1" dirty="0">
                <a:solidFill>
                  <a:srgbClr val="0A0F1E"/>
                </a:solidFill>
                <a:latin typeface="Georgia" pitchFamily="34" charset="0"/>
                <a:ea typeface="Georgia" pitchFamily="34" charset="-122"/>
                <a:cs typeface="Georgia" pitchFamily="34" charset="-120"/>
              </a:rPr>
              <a:t>Double scoring</a:t>
            </a:r>
            <a:endParaRPr lang="en-US" sz="2000" dirty="0"/>
          </a:p>
        </p:txBody>
      </p:sp>
      <p:sp>
        <p:nvSpPr>
          <p:cNvPr id="10" name="Text 8"/>
          <p:cNvSpPr/>
          <p:nvPr/>
        </p:nvSpPr>
        <p:spPr>
          <a:xfrm>
            <a:off x="1005840" y="4892040"/>
            <a:ext cx="3200400" cy="914400"/>
          </a:xfrm>
          <a:prstGeom prst="rect">
            <a:avLst/>
          </a:prstGeom>
          <a:noFill/>
          <a:ln/>
        </p:spPr>
        <p:txBody>
          <a:bodyPr wrap="square" lIns="0" tIns="0" rIns="0" bIns="0" rtlCol="0" anchor="ctr"/>
          <a:lstStyle/>
          <a:p>
            <a:pPr marL="0" indent="0">
              <a:lnSpc>
                <a:spcPct val="140000"/>
              </a:lnSpc>
              <a:buNone/>
            </a:pPr>
            <a:r>
              <a:rPr lang="en-US" sz="1200" dirty="0">
                <a:solidFill>
                  <a:srgbClr val="4A5063"/>
                </a:solidFill>
                <a:latin typeface="Calibri" pitchFamily="34" charset="0"/>
                <a:ea typeface="Calibri" pitchFamily="34" charset="-122"/>
                <a:cs typeface="Calibri" pitchFamily="34" charset="-120"/>
              </a:rPr>
              <a:t>Random Forest de Spark pour la qualité du CV. Embeddings de phrases pour l'adéquation au poste. Le mélange tranche.</a:t>
            </a:r>
            <a:endParaRPr lang="en-US" sz="1200" dirty="0"/>
          </a:p>
        </p:txBody>
      </p:sp>
      <p:sp>
        <p:nvSpPr>
          <p:cNvPr id="11" name="Shape 9"/>
          <p:cNvSpPr/>
          <p:nvPr/>
        </p:nvSpPr>
        <p:spPr>
          <a:xfrm>
            <a:off x="4572000" y="3657600"/>
            <a:ext cx="3566160" cy="2286000"/>
          </a:xfrm>
          <a:prstGeom prst="rect">
            <a:avLst/>
          </a:prstGeom>
          <a:solidFill>
            <a:srgbClr val="FFFFFF"/>
          </a:solidFill>
          <a:ln w="12700">
            <a:solidFill>
              <a:srgbClr val="E5E2D9"/>
            </a:solidFill>
            <a:prstDash val="solid"/>
          </a:ln>
        </p:spPr>
      </p:sp>
      <p:sp>
        <p:nvSpPr>
          <p:cNvPr id="12" name="Shape 10"/>
          <p:cNvSpPr/>
          <p:nvPr/>
        </p:nvSpPr>
        <p:spPr>
          <a:xfrm>
            <a:off x="4572000" y="3657600"/>
            <a:ext cx="3566160" cy="73152"/>
          </a:xfrm>
          <a:prstGeom prst="rect">
            <a:avLst/>
          </a:prstGeom>
          <a:solidFill>
            <a:srgbClr val="E1251B"/>
          </a:solidFill>
          <a:ln w="12700">
            <a:solidFill>
              <a:srgbClr val="E1251B"/>
            </a:solidFill>
            <a:prstDash val="solid"/>
          </a:ln>
        </p:spPr>
      </p:sp>
      <p:sp>
        <p:nvSpPr>
          <p:cNvPr id="13" name="Text 11"/>
          <p:cNvSpPr/>
          <p:nvPr/>
        </p:nvSpPr>
        <p:spPr>
          <a:xfrm>
            <a:off x="4800600" y="3886200"/>
            <a:ext cx="914400" cy="457200"/>
          </a:xfrm>
          <a:prstGeom prst="rect">
            <a:avLst/>
          </a:prstGeom>
          <a:noFill/>
          <a:ln/>
        </p:spPr>
        <p:txBody>
          <a:bodyPr wrap="square" lIns="0" tIns="0" rIns="0" bIns="0" rtlCol="0" anchor="ctr"/>
          <a:lstStyle/>
          <a:p>
            <a:pPr marL="0" indent="0">
              <a:buNone/>
            </a:pPr>
            <a:r>
              <a:rPr lang="en-US" sz="1600" b="1" i="1" dirty="0">
                <a:solidFill>
                  <a:srgbClr val="E1251B"/>
                </a:solidFill>
                <a:latin typeface="Georgia" pitchFamily="34" charset="0"/>
                <a:ea typeface="Georgia" pitchFamily="34" charset="-122"/>
                <a:cs typeface="Georgia" pitchFamily="34" charset="-120"/>
              </a:rPr>
              <a:t>02</a:t>
            </a:r>
            <a:endParaRPr lang="en-US" sz="1600" dirty="0"/>
          </a:p>
        </p:txBody>
      </p:sp>
      <p:sp>
        <p:nvSpPr>
          <p:cNvPr id="14" name="Text 12"/>
          <p:cNvSpPr/>
          <p:nvPr/>
        </p:nvSpPr>
        <p:spPr>
          <a:xfrm>
            <a:off x="4800600" y="4297680"/>
            <a:ext cx="3200400" cy="548640"/>
          </a:xfrm>
          <a:prstGeom prst="rect">
            <a:avLst/>
          </a:prstGeom>
          <a:noFill/>
          <a:ln/>
        </p:spPr>
        <p:txBody>
          <a:bodyPr wrap="square" lIns="0" tIns="0" rIns="0" bIns="0" rtlCol="0" anchor="ctr"/>
          <a:lstStyle/>
          <a:p>
            <a:pPr marL="0" indent="0">
              <a:buNone/>
            </a:pPr>
            <a:r>
              <a:rPr lang="en-US" sz="2000" b="1" dirty="0">
                <a:solidFill>
                  <a:srgbClr val="0A0F1E"/>
                </a:solidFill>
                <a:latin typeface="Georgia" pitchFamily="34" charset="0"/>
                <a:ea typeface="Georgia" pitchFamily="34" charset="-122"/>
                <a:cs typeface="Georgia" pitchFamily="34" charset="-120"/>
              </a:rPr>
              <a:t>Asynchrone par défaut</a:t>
            </a:r>
            <a:endParaRPr lang="en-US" sz="2000" dirty="0"/>
          </a:p>
        </p:txBody>
      </p:sp>
      <p:sp>
        <p:nvSpPr>
          <p:cNvPr id="15" name="Text 13"/>
          <p:cNvSpPr/>
          <p:nvPr/>
        </p:nvSpPr>
        <p:spPr>
          <a:xfrm>
            <a:off x="4800600" y="4892040"/>
            <a:ext cx="3200400" cy="914400"/>
          </a:xfrm>
          <a:prstGeom prst="rect">
            <a:avLst/>
          </a:prstGeom>
          <a:noFill/>
          <a:ln/>
        </p:spPr>
        <p:txBody>
          <a:bodyPr wrap="square" lIns="0" tIns="0" rIns="0" bIns="0" rtlCol="0" anchor="ctr"/>
          <a:lstStyle/>
          <a:p>
            <a:pPr marL="0" indent="0">
              <a:lnSpc>
                <a:spcPct val="140000"/>
              </a:lnSpc>
              <a:buNone/>
            </a:pPr>
            <a:r>
              <a:rPr lang="en-US" sz="1200" dirty="0">
                <a:solidFill>
                  <a:srgbClr val="4A5063"/>
                </a:solidFill>
                <a:latin typeface="Calibri" pitchFamily="34" charset="0"/>
                <a:ea typeface="Calibri" pitchFamily="34" charset="-122"/>
                <a:cs typeface="Calibri" pitchFamily="34" charset="-120"/>
              </a:rPr>
              <a:t>Kafka découple le site de l'ouvrier. L'utilisateur n'attend jamais Spark — il attend Kafka, soit quelques millisecondes.</a:t>
            </a:r>
            <a:endParaRPr lang="en-US" sz="1200" dirty="0"/>
          </a:p>
        </p:txBody>
      </p:sp>
      <p:sp>
        <p:nvSpPr>
          <p:cNvPr id="16" name="Shape 14"/>
          <p:cNvSpPr/>
          <p:nvPr/>
        </p:nvSpPr>
        <p:spPr>
          <a:xfrm>
            <a:off x="8366760" y="3657600"/>
            <a:ext cx="3566160" cy="2286000"/>
          </a:xfrm>
          <a:prstGeom prst="rect">
            <a:avLst/>
          </a:prstGeom>
          <a:solidFill>
            <a:srgbClr val="FFFFFF"/>
          </a:solidFill>
          <a:ln w="12700">
            <a:solidFill>
              <a:srgbClr val="E5E2D9"/>
            </a:solidFill>
            <a:prstDash val="solid"/>
          </a:ln>
        </p:spPr>
      </p:sp>
      <p:sp>
        <p:nvSpPr>
          <p:cNvPr id="17" name="Shape 15"/>
          <p:cNvSpPr/>
          <p:nvPr/>
        </p:nvSpPr>
        <p:spPr>
          <a:xfrm>
            <a:off x="8366760" y="3657600"/>
            <a:ext cx="3566160" cy="73152"/>
          </a:xfrm>
          <a:prstGeom prst="rect">
            <a:avLst/>
          </a:prstGeom>
          <a:solidFill>
            <a:srgbClr val="E1251B"/>
          </a:solidFill>
          <a:ln w="12700">
            <a:solidFill>
              <a:srgbClr val="E1251B"/>
            </a:solidFill>
            <a:prstDash val="solid"/>
          </a:ln>
        </p:spPr>
      </p:sp>
      <p:sp>
        <p:nvSpPr>
          <p:cNvPr id="18" name="Text 16"/>
          <p:cNvSpPr/>
          <p:nvPr/>
        </p:nvSpPr>
        <p:spPr>
          <a:xfrm>
            <a:off x="8595360" y="3886200"/>
            <a:ext cx="914400" cy="457200"/>
          </a:xfrm>
          <a:prstGeom prst="rect">
            <a:avLst/>
          </a:prstGeom>
          <a:noFill/>
          <a:ln/>
        </p:spPr>
        <p:txBody>
          <a:bodyPr wrap="square" lIns="0" tIns="0" rIns="0" bIns="0" rtlCol="0" anchor="ctr"/>
          <a:lstStyle/>
          <a:p>
            <a:pPr marL="0" indent="0">
              <a:buNone/>
            </a:pPr>
            <a:r>
              <a:rPr lang="en-US" sz="1600" b="1" i="1" dirty="0">
                <a:solidFill>
                  <a:srgbClr val="E1251B"/>
                </a:solidFill>
                <a:latin typeface="Georgia" pitchFamily="34" charset="0"/>
                <a:ea typeface="Georgia" pitchFamily="34" charset="-122"/>
                <a:cs typeface="Georgia" pitchFamily="34" charset="-120"/>
              </a:rPr>
              <a:t>03</a:t>
            </a:r>
            <a:endParaRPr lang="en-US" sz="1600" dirty="0"/>
          </a:p>
        </p:txBody>
      </p:sp>
      <p:sp>
        <p:nvSpPr>
          <p:cNvPr id="19" name="Text 17"/>
          <p:cNvSpPr/>
          <p:nvPr/>
        </p:nvSpPr>
        <p:spPr>
          <a:xfrm>
            <a:off x="8595360" y="4297680"/>
            <a:ext cx="3200400" cy="548640"/>
          </a:xfrm>
          <a:prstGeom prst="rect">
            <a:avLst/>
          </a:prstGeom>
          <a:noFill/>
          <a:ln/>
        </p:spPr>
        <p:txBody>
          <a:bodyPr wrap="square" lIns="0" tIns="0" rIns="0" bIns="0" rtlCol="0" anchor="ctr"/>
          <a:lstStyle/>
          <a:p>
            <a:pPr marL="0" indent="0">
              <a:buNone/>
            </a:pPr>
            <a:r>
              <a:rPr lang="en-US" sz="2000" b="1" dirty="0">
                <a:solidFill>
                  <a:srgbClr val="0A0F1E"/>
                </a:solidFill>
                <a:latin typeface="Georgia" pitchFamily="34" charset="0"/>
                <a:ea typeface="Georgia" pitchFamily="34" charset="-122"/>
                <a:cs typeface="Georgia" pitchFamily="34" charset="-120"/>
              </a:rPr>
              <a:t>Multi-postes</a:t>
            </a:r>
            <a:endParaRPr lang="en-US" sz="2000" dirty="0"/>
          </a:p>
        </p:txBody>
      </p:sp>
      <p:sp>
        <p:nvSpPr>
          <p:cNvPr id="20" name="Text 18"/>
          <p:cNvSpPr/>
          <p:nvPr/>
        </p:nvSpPr>
        <p:spPr>
          <a:xfrm>
            <a:off x="8595360" y="4892040"/>
            <a:ext cx="3200400" cy="914400"/>
          </a:xfrm>
          <a:prstGeom prst="rect">
            <a:avLst/>
          </a:prstGeom>
          <a:noFill/>
          <a:ln/>
        </p:spPr>
        <p:txBody>
          <a:bodyPr wrap="square" lIns="0" tIns="0" rIns="0" bIns="0" rtlCol="0" anchor="ctr"/>
          <a:lstStyle/>
          <a:p>
            <a:pPr marL="0" indent="0">
              <a:lnSpc>
                <a:spcPct val="140000"/>
              </a:lnSpc>
              <a:buNone/>
            </a:pPr>
            <a:r>
              <a:rPr lang="en-US" sz="1200" dirty="0">
                <a:solidFill>
                  <a:srgbClr val="4A5063"/>
                </a:solidFill>
                <a:latin typeface="Calibri" pitchFamily="34" charset="0"/>
                <a:ea typeface="Calibri" pitchFamily="34" charset="-122"/>
                <a:cs typeface="Calibri" pitchFamily="34" charset="-120"/>
              </a:rPr>
              <a:t>Chaque offre d'emploi a sa propre pipeline isolée. Le moteur est partagé, les candidats restent séparés.</a:t>
            </a:r>
            <a:endParaRPr lang="en-US" sz="1200" dirty="0"/>
          </a:p>
        </p:txBody>
      </p:sp>
      <p:sp>
        <p:nvSpPr>
          <p:cNvPr id="21" name="Text 19"/>
          <p:cNvSpPr/>
          <p:nvPr/>
        </p:nvSpPr>
        <p:spPr>
          <a:xfrm>
            <a:off x="457200" y="6400800"/>
            <a:ext cx="5486400" cy="274320"/>
          </a:xfrm>
          <a:prstGeom prst="rect">
            <a:avLst/>
          </a:prstGeom>
          <a:noFill/>
          <a:ln/>
        </p:spPr>
        <p:txBody>
          <a:bodyPr wrap="square" rtlCol="0" anchor="ctr"/>
          <a:lstStyle/>
          <a:p>
            <a:pPr marL="0" indent="0">
              <a:buNone/>
            </a:pPr>
            <a:r>
              <a:rPr lang="en-US" sz="900" b="1" kern="0" spc="400" dirty="0">
                <a:solidFill>
                  <a:srgbClr val="8B8F9C"/>
                </a:solidFill>
                <a:latin typeface="Calibri" pitchFamily="34" charset="0"/>
                <a:ea typeface="Calibri" pitchFamily="34" charset="-122"/>
                <a:cs typeface="Calibri" pitchFamily="34" charset="-120"/>
              </a:rPr>
              <a:t>RESUMIND  ·  3/12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457200" y="457200"/>
            <a:ext cx="164592" cy="457200"/>
          </a:xfrm>
          <a:prstGeom prst="rect">
            <a:avLst/>
          </a:prstGeom>
          <a:solidFill>
            <a:srgbClr val="E1251B"/>
          </a:solidFill>
          <a:ln w="12700">
            <a:solidFill>
              <a:srgbClr val="E1251B"/>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600" dirty="0">
                <a:solidFill>
                  <a:srgbClr val="E1251B"/>
                </a:solidFill>
                <a:latin typeface="Calibri" pitchFamily="34" charset="0"/>
                <a:ea typeface="Calibri" pitchFamily="34" charset="-122"/>
                <a:cs typeface="Calibri" pitchFamily="34" charset="-120"/>
              </a:rPr>
              <a:t>ARCHITECTURE</a:t>
            </a:r>
            <a:endParaRPr lang="en-US" sz="1100" dirty="0"/>
          </a:p>
        </p:txBody>
      </p:sp>
      <p:sp>
        <p:nvSpPr>
          <p:cNvPr id="4" name="Text 2"/>
          <p:cNvSpPr/>
          <p:nvPr/>
        </p:nvSpPr>
        <p:spPr>
          <a:xfrm>
            <a:off x="777240" y="914400"/>
            <a:ext cx="10972800" cy="914400"/>
          </a:xfrm>
          <a:prstGeom prst="rect">
            <a:avLst/>
          </a:prstGeom>
          <a:noFill/>
          <a:ln/>
        </p:spPr>
        <p:txBody>
          <a:bodyPr wrap="square" lIns="0" tIns="0" rIns="0" bIns="0" rtlCol="0" anchor="ctr"/>
          <a:lstStyle/>
          <a:p>
            <a:pPr marL="0" indent="0">
              <a:buNone/>
            </a:pPr>
            <a:r>
              <a:rPr lang="en-US" sz="3600" dirty="0">
                <a:solidFill>
                  <a:srgbClr val="0A0F1E"/>
                </a:solidFill>
                <a:latin typeface="Georgia" pitchFamily="34" charset="0"/>
                <a:ea typeface="Georgia" pitchFamily="34" charset="-122"/>
                <a:cs typeface="Georgia" pitchFamily="34" charset="-120"/>
              </a:rPr>
              <a:t>Toute la pipeline, sur </a:t>
            </a:r>
            <a:r>
              <a:rPr lang="en-US" sz="3600" i="1" dirty="0">
                <a:solidFill>
                  <a:srgbClr val="E1251B"/>
                </a:solidFill>
                <a:latin typeface="Georgia" pitchFamily="34" charset="0"/>
                <a:ea typeface="Georgia" pitchFamily="34" charset="-122"/>
                <a:cs typeface="Georgia" pitchFamily="34" charset="-120"/>
              </a:rPr>
              <a:t>une </a:t>
            </a:r>
            <a:r>
              <a:rPr lang="en-US" sz="3600" dirty="0">
                <a:solidFill>
                  <a:srgbClr val="0A0F1E"/>
                </a:solidFill>
                <a:latin typeface="Georgia" pitchFamily="34" charset="0"/>
                <a:ea typeface="Georgia" pitchFamily="34" charset="-122"/>
                <a:cs typeface="Georgia" pitchFamily="34" charset="-120"/>
              </a:rPr>
              <a:t>diapo.</a:t>
            </a:r>
            <a:endParaRPr lang="en-US" sz="3600" dirty="0"/>
          </a:p>
        </p:txBody>
      </p:sp>
      <p:sp>
        <p:nvSpPr>
          <p:cNvPr id="5" name="Shape 3"/>
          <p:cNvSpPr/>
          <p:nvPr/>
        </p:nvSpPr>
        <p:spPr>
          <a:xfrm>
            <a:off x="777240" y="2377440"/>
            <a:ext cx="2194560" cy="914400"/>
          </a:xfrm>
          <a:prstGeom prst="rect">
            <a:avLst/>
          </a:prstGeom>
          <a:solidFill>
            <a:srgbClr val="FFFFFF"/>
          </a:solidFill>
          <a:ln w="25400">
            <a:solidFill>
              <a:srgbClr val="E1251B"/>
            </a:solidFill>
            <a:prstDash val="solid"/>
          </a:ln>
        </p:spPr>
      </p:sp>
      <p:sp>
        <p:nvSpPr>
          <p:cNvPr id="6" name="Text 4"/>
          <p:cNvSpPr/>
          <p:nvPr/>
        </p:nvSpPr>
        <p:spPr>
          <a:xfrm>
            <a:off x="777240" y="2377440"/>
            <a:ext cx="2194560" cy="914400"/>
          </a:xfrm>
          <a:prstGeom prst="rect">
            <a:avLst/>
          </a:prstGeom>
          <a:noFill/>
          <a:ln/>
        </p:spPr>
        <p:txBody>
          <a:bodyPr wrap="square" lIns="0" tIns="0" rIns="0" bIns="0" rtlCol="0" anchor="ctr"/>
          <a:lstStyle/>
          <a:p>
            <a:pPr marL="0" indent="0" algn="ctr">
              <a:buNone/>
            </a:pPr>
            <a:r>
              <a:rPr lang="en-US" sz="1200" b="1" dirty="0">
                <a:solidFill>
                  <a:srgbClr val="0A0F1E"/>
                </a:solidFill>
                <a:latin typeface="Calibri" pitchFamily="34" charset="0"/>
                <a:ea typeface="Calibri" pitchFamily="34" charset="-122"/>
                <a:cs typeface="Calibri" pitchFamily="34" charset="-120"/>
              </a:rPr>
              <a:t>Site React</a:t>
            </a:r>
            <a:endParaRPr lang="en-US" sz="1200" dirty="0"/>
          </a:p>
          <a:p>
            <a:pPr marL="0" indent="0" algn="ctr">
              <a:buNone/>
            </a:pPr>
            <a:r>
              <a:rPr lang="en-US" sz="1200" b="1" dirty="0">
                <a:solidFill>
                  <a:srgbClr val="0A0F1E"/>
                </a:solidFill>
                <a:latin typeface="Calibri" pitchFamily="34" charset="0"/>
                <a:ea typeface="Calibri" pitchFamily="34" charset="-122"/>
                <a:cs typeface="Calibri" pitchFamily="34" charset="-120"/>
              </a:rPr>
              <a:t>Le recruteur envoie un PDF</a:t>
            </a:r>
            <a:endParaRPr lang="en-US" sz="1200" dirty="0"/>
          </a:p>
        </p:txBody>
      </p:sp>
      <p:sp>
        <p:nvSpPr>
          <p:cNvPr id="7" name="Shape 5"/>
          <p:cNvSpPr/>
          <p:nvPr/>
        </p:nvSpPr>
        <p:spPr>
          <a:xfrm>
            <a:off x="3017520" y="2834640"/>
            <a:ext cx="457200" cy="0"/>
          </a:xfrm>
          <a:prstGeom prst="line">
            <a:avLst/>
          </a:prstGeom>
          <a:noFill/>
          <a:ln w="25400">
            <a:solidFill>
              <a:srgbClr val="E1251B"/>
            </a:solidFill>
            <a:prstDash val="solid"/>
            <a:tailEnd type="triangle"/>
          </a:ln>
        </p:spPr>
      </p:sp>
      <p:sp>
        <p:nvSpPr>
          <p:cNvPr id="8" name="Shape 6"/>
          <p:cNvSpPr/>
          <p:nvPr/>
        </p:nvSpPr>
        <p:spPr>
          <a:xfrm>
            <a:off x="3566160" y="2377440"/>
            <a:ext cx="2560320" cy="914400"/>
          </a:xfrm>
          <a:prstGeom prst="rect">
            <a:avLst/>
          </a:prstGeom>
          <a:solidFill>
            <a:srgbClr val="FFFFFF"/>
          </a:solidFill>
          <a:ln w="25400">
            <a:solidFill>
              <a:srgbClr val="E1251B"/>
            </a:solidFill>
            <a:prstDash val="solid"/>
          </a:ln>
        </p:spPr>
      </p:sp>
      <p:sp>
        <p:nvSpPr>
          <p:cNvPr id="9" name="Text 7"/>
          <p:cNvSpPr/>
          <p:nvPr/>
        </p:nvSpPr>
        <p:spPr>
          <a:xfrm>
            <a:off x="3566160" y="2377440"/>
            <a:ext cx="2560320" cy="914400"/>
          </a:xfrm>
          <a:prstGeom prst="rect">
            <a:avLst/>
          </a:prstGeom>
          <a:noFill/>
          <a:ln/>
        </p:spPr>
        <p:txBody>
          <a:bodyPr wrap="square" lIns="0" tIns="0" rIns="0" bIns="0" rtlCol="0" anchor="ctr"/>
          <a:lstStyle/>
          <a:p>
            <a:pPr marL="0" indent="0" algn="ctr">
              <a:buNone/>
            </a:pPr>
            <a:r>
              <a:rPr lang="en-US" sz="1200" b="1" dirty="0">
                <a:solidFill>
                  <a:srgbClr val="0A0F1E"/>
                </a:solidFill>
                <a:latin typeface="Calibri" pitchFamily="34" charset="0"/>
                <a:ea typeface="Calibri" pitchFamily="34" charset="-122"/>
                <a:cs typeface="Calibri" pitchFamily="34" charset="-120"/>
              </a:rPr>
              <a:t>Backend Node.js</a:t>
            </a:r>
            <a:endParaRPr lang="en-US" sz="1200" dirty="0"/>
          </a:p>
          <a:p>
            <a:pPr marL="0" indent="0" algn="ctr">
              <a:buNone/>
            </a:pPr>
            <a:r>
              <a:rPr lang="en-US" sz="1200" b="1" dirty="0">
                <a:solidFill>
                  <a:srgbClr val="0A0F1E"/>
                </a:solidFill>
                <a:latin typeface="Calibri" pitchFamily="34" charset="0"/>
                <a:ea typeface="Calibri" pitchFamily="34" charset="-122"/>
                <a:cs typeface="Calibri" pitchFamily="34" charset="-120"/>
              </a:rPr>
              <a:t>Extrait texte + champs</a:t>
            </a:r>
            <a:endParaRPr lang="en-US" sz="1200" dirty="0"/>
          </a:p>
        </p:txBody>
      </p:sp>
      <p:sp>
        <p:nvSpPr>
          <p:cNvPr id="10" name="Shape 8"/>
          <p:cNvSpPr/>
          <p:nvPr/>
        </p:nvSpPr>
        <p:spPr>
          <a:xfrm>
            <a:off x="6172200" y="2834640"/>
            <a:ext cx="457200" cy="0"/>
          </a:xfrm>
          <a:prstGeom prst="line">
            <a:avLst/>
          </a:prstGeom>
          <a:noFill/>
          <a:ln w="25400">
            <a:solidFill>
              <a:srgbClr val="E1251B"/>
            </a:solidFill>
            <a:prstDash val="solid"/>
            <a:tailEnd type="triangle"/>
          </a:ln>
        </p:spPr>
      </p:sp>
      <p:sp>
        <p:nvSpPr>
          <p:cNvPr id="11" name="Shape 9"/>
          <p:cNvSpPr/>
          <p:nvPr/>
        </p:nvSpPr>
        <p:spPr>
          <a:xfrm>
            <a:off x="6720840" y="2377440"/>
            <a:ext cx="2377440" cy="914400"/>
          </a:xfrm>
          <a:prstGeom prst="rect">
            <a:avLst/>
          </a:prstGeom>
          <a:solidFill>
            <a:srgbClr val="FFFFFF"/>
          </a:solidFill>
          <a:ln w="25400">
            <a:solidFill>
              <a:srgbClr val="E8B91A"/>
            </a:solidFill>
            <a:prstDash val="solid"/>
          </a:ln>
        </p:spPr>
      </p:sp>
      <p:sp>
        <p:nvSpPr>
          <p:cNvPr id="12" name="Text 10"/>
          <p:cNvSpPr/>
          <p:nvPr/>
        </p:nvSpPr>
        <p:spPr>
          <a:xfrm>
            <a:off x="6720840" y="2377440"/>
            <a:ext cx="2377440" cy="914400"/>
          </a:xfrm>
          <a:prstGeom prst="rect">
            <a:avLst/>
          </a:prstGeom>
          <a:noFill/>
          <a:ln/>
        </p:spPr>
        <p:txBody>
          <a:bodyPr wrap="square" lIns="0" tIns="0" rIns="0" bIns="0" rtlCol="0" anchor="ctr"/>
          <a:lstStyle/>
          <a:p>
            <a:pPr marL="0" indent="0" algn="ctr">
              <a:buNone/>
            </a:pPr>
            <a:r>
              <a:rPr lang="en-US" sz="1200" b="1" dirty="0">
                <a:solidFill>
                  <a:srgbClr val="0A0F1E"/>
                </a:solidFill>
                <a:latin typeface="Calibri" pitchFamily="34" charset="0"/>
                <a:ea typeface="Calibri" pitchFamily="34" charset="-122"/>
                <a:cs typeface="Calibri" pitchFamily="34" charset="-120"/>
              </a:rPr>
              <a:t>PostgreSQL</a:t>
            </a:r>
            <a:endParaRPr lang="en-US" sz="1200" dirty="0"/>
          </a:p>
          <a:p>
            <a:pPr marL="0" indent="0" algn="ctr">
              <a:buNone/>
            </a:pPr>
            <a:r>
              <a:rPr lang="en-US" sz="1200" b="1" dirty="0">
                <a:solidFill>
                  <a:srgbClr val="0A0F1E"/>
                </a:solidFill>
                <a:latin typeface="Calibri" pitchFamily="34" charset="0"/>
                <a:ea typeface="Calibri" pitchFamily="34" charset="-122"/>
                <a:cs typeface="Calibri" pitchFamily="34" charset="-120"/>
              </a:rPr>
              <a:t>Base Supabase</a:t>
            </a:r>
            <a:endParaRPr lang="en-US" sz="1200" dirty="0"/>
          </a:p>
        </p:txBody>
      </p:sp>
      <p:sp>
        <p:nvSpPr>
          <p:cNvPr id="13" name="Shape 11"/>
          <p:cNvSpPr/>
          <p:nvPr/>
        </p:nvSpPr>
        <p:spPr>
          <a:xfrm>
            <a:off x="4846320" y="3337560"/>
            <a:ext cx="0" cy="411480"/>
          </a:xfrm>
          <a:prstGeom prst="line">
            <a:avLst/>
          </a:prstGeom>
          <a:noFill/>
          <a:ln w="25400">
            <a:solidFill>
              <a:srgbClr val="E1251B"/>
            </a:solidFill>
            <a:prstDash val="solid"/>
            <a:tailEnd type="triangle"/>
          </a:ln>
        </p:spPr>
      </p:sp>
      <p:sp>
        <p:nvSpPr>
          <p:cNvPr id="14" name="Shape 12"/>
          <p:cNvSpPr/>
          <p:nvPr/>
        </p:nvSpPr>
        <p:spPr>
          <a:xfrm>
            <a:off x="3566160" y="3840480"/>
            <a:ext cx="2560320" cy="685800"/>
          </a:xfrm>
          <a:prstGeom prst="rect">
            <a:avLst/>
          </a:prstGeom>
          <a:solidFill>
            <a:srgbClr val="E1251B"/>
          </a:solidFill>
          <a:ln w="12700">
            <a:solidFill>
              <a:srgbClr val="E1251B"/>
            </a:solidFill>
            <a:prstDash val="solid"/>
          </a:ln>
        </p:spPr>
      </p:sp>
      <p:sp>
        <p:nvSpPr>
          <p:cNvPr id="15" name="Text 13"/>
          <p:cNvSpPr/>
          <p:nvPr/>
        </p:nvSpPr>
        <p:spPr>
          <a:xfrm>
            <a:off x="3566160" y="3840480"/>
            <a:ext cx="2560320" cy="685800"/>
          </a:xfrm>
          <a:prstGeom prst="rect">
            <a:avLst/>
          </a:prstGeom>
          <a:noFill/>
          <a:ln/>
        </p:spPr>
        <p:txBody>
          <a:bodyPr wrap="square" lIns="0" tIns="0" rIns="0" bIns="0"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KAFKA — cv-submissions</a:t>
            </a:r>
            <a:endParaRPr lang="en-US" sz="1300" dirty="0"/>
          </a:p>
        </p:txBody>
      </p:sp>
      <p:sp>
        <p:nvSpPr>
          <p:cNvPr id="16" name="Shape 14"/>
          <p:cNvSpPr/>
          <p:nvPr/>
        </p:nvSpPr>
        <p:spPr>
          <a:xfrm>
            <a:off x="4846320" y="4572000"/>
            <a:ext cx="0" cy="457200"/>
          </a:xfrm>
          <a:prstGeom prst="line">
            <a:avLst/>
          </a:prstGeom>
          <a:noFill/>
          <a:ln w="25400">
            <a:solidFill>
              <a:srgbClr val="E1251B"/>
            </a:solidFill>
            <a:prstDash val="solid"/>
            <a:tailEnd type="triangle"/>
          </a:ln>
        </p:spPr>
      </p:sp>
      <p:sp>
        <p:nvSpPr>
          <p:cNvPr id="17" name="Shape 15"/>
          <p:cNvSpPr/>
          <p:nvPr/>
        </p:nvSpPr>
        <p:spPr>
          <a:xfrm>
            <a:off x="3108960" y="5074920"/>
            <a:ext cx="3474720" cy="1188720"/>
          </a:xfrm>
          <a:prstGeom prst="rect">
            <a:avLst/>
          </a:prstGeom>
          <a:solidFill>
            <a:srgbClr val="FFFFFF"/>
          </a:solidFill>
          <a:ln w="38100">
            <a:solidFill>
              <a:srgbClr val="E8B91A"/>
            </a:solidFill>
            <a:prstDash val="solid"/>
          </a:ln>
        </p:spPr>
      </p:sp>
      <p:sp>
        <p:nvSpPr>
          <p:cNvPr id="18" name="Text 16"/>
          <p:cNvSpPr/>
          <p:nvPr/>
        </p:nvSpPr>
        <p:spPr>
          <a:xfrm>
            <a:off x="3108960" y="5074920"/>
            <a:ext cx="3474720" cy="1188720"/>
          </a:xfrm>
          <a:prstGeom prst="rect">
            <a:avLst/>
          </a:prstGeom>
          <a:noFill/>
          <a:ln/>
        </p:spPr>
        <p:txBody>
          <a:bodyPr wrap="square" lIns="0" tIns="0" rIns="0" bIns="0" rtlCol="0" anchor="ctr"/>
          <a:lstStyle/>
          <a:p>
            <a:pPr marL="0" indent="0" algn="ctr">
              <a:buNone/>
            </a:pPr>
            <a:r>
              <a:rPr lang="en-US" sz="1300" b="1" dirty="0">
                <a:solidFill>
                  <a:srgbClr val="A8190F"/>
                </a:solidFill>
                <a:latin typeface="Calibri" pitchFamily="34" charset="0"/>
                <a:ea typeface="Calibri" pitchFamily="34" charset="-122"/>
                <a:cs typeface="Calibri" pitchFamily="34" charset="-120"/>
              </a:rPr>
              <a:t>Worker Python (VM)
</a:t>
            </a:r>
            <a:r>
              <a:rPr lang="en-US" sz="1100" dirty="0">
                <a:solidFill>
                  <a:srgbClr val="4A5063"/>
                </a:solidFill>
                <a:latin typeface="Calibri" pitchFamily="34" charset="0"/>
                <a:ea typeface="Calibri" pitchFamily="34" charset="-122"/>
                <a:cs typeface="Calibri" pitchFamily="34" charset="-120"/>
              </a:rPr>
              <a:t>Spark RF + MiniLM + Mistral</a:t>
            </a:r>
            <a:endParaRPr lang="en-US" sz="1300" dirty="0"/>
          </a:p>
        </p:txBody>
      </p:sp>
      <p:sp>
        <p:nvSpPr>
          <p:cNvPr id="19" name="Shape 17"/>
          <p:cNvSpPr/>
          <p:nvPr/>
        </p:nvSpPr>
        <p:spPr>
          <a:xfrm>
            <a:off x="6675120" y="5669280"/>
            <a:ext cx="548640" cy="0"/>
          </a:xfrm>
          <a:prstGeom prst="line">
            <a:avLst/>
          </a:prstGeom>
          <a:noFill/>
          <a:ln w="25400">
            <a:solidFill>
              <a:srgbClr val="E1251B"/>
            </a:solidFill>
            <a:prstDash val="solid"/>
            <a:tailEnd type="triangle"/>
          </a:ln>
        </p:spPr>
      </p:sp>
      <p:sp>
        <p:nvSpPr>
          <p:cNvPr id="20" name="Shape 18"/>
          <p:cNvSpPr/>
          <p:nvPr/>
        </p:nvSpPr>
        <p:spPr>
          <a:xfrm>
            <a:off x="7269480" y="5349240"/>
            <a:ext cx="2560320" cy="685800"/>
          </a:xfrm>
          <a:prstGeom prst="rect">
            <a:avLst/>
          </a:prstGeom>
          <a:solidFill>
            <a:srgbClr val="E1251B"/>
          </a:solidFill>
          <a:ln w="12700">
            <a:solidFill>
              <a:srgbClr val="E1251B"/>
            </a:solidFill>
            <a:prstDash val="solid"/>
          </a:ln>
        </p:spPr>
      </p:sp>
      <p:sp>
        <p:nvSpPr>
          <p:cNvPr id="21" name="Text 19"/>
          <p:cNvSpPr/>
          <p:nvPr/>
        </p:nvSpPr>
        <p:spPr>
          <a:xfrm>
            <a:off x="7269480" y="5349240"/>
            <a:ext cx="2560320" cy="6858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KAFKA — scored-candidates</a:t>
            </a:r>
            <a:endParaRPr lang="en-US" sz="1200" dirty="0"/>
          </a:p>
        </p:txBody>
      </p:sp>
      <p:sp>
        <p:nvSpPr>
          <p:cNvPr id="22" name="Text 20"/>
          <p:cNvSpPr/>
          <p:nvPr/>
        </p:nvSpPr>
        <p:spPr>
          <a:xfrm>
            <a:off x="777240" y="1874520"/>
            <a:ext cx="10607040" cy="320040"/>
          </a:xfrm>
          <a:prstGeom prst="rect">
            <a:avLst/>
          </a:prstGeom>
          <a:noFill/>
          <a:ln/>
        </p:spPr>
        <p:txBody>
          <a:bodyPr wrap="square" lIns="0" tIns="0" rIns="0" bIns="0" rtlCol="0" anchor="ctr"/>
          <a:lstStyle/>
          <a:p>
            <a:pPr marL="0" indent="0">
              <a:buNone/>
            </a:pPr>
            <a:r>
              <a:rPr lang="en-US" sz="1300" i="1" dirty="0">
                <a:solidFill>
                  <a:srgbClr val="4A5063"/>
                </a:solidFill>
                <a:latin typeface="Calibri" pitchFamily="34" charset="0"/>
                <a:ea typeface="Calibri" pitchFamily="34" charset="-122"/>
                <a:cs typeface="Calibri" pitchFamily="34" charset="-120"/>
              </a:rPr>
              <a:t>Chaque bloc tourne indépendamment. Kafka entre les deux : le site n'attend jamais Spark.</a:t>
            </a:r>
            <a:endParaRPr lang="en-US" sz="1300" dirty="0"/>
          </a:p>
        </p:txBody>
      </p:sp>
      <p:sp>
        <p:nvSpPr>
          <p:cNvPr id="23" name="Text 21"/>
          <p:cNvSpPr/>
          <p:nvPr/>
        </p:nvSpPr>
        <p:spPr>
          <a:xfrm>
            <a:off x="457200" y="6400800"/>
            <a:ext cx="5486400" cy="274320"/>
          </a:xfrm>
          <a:prstGeom prst="rect">
            <a:avLst/>
          </a:prstGeom>
          <a:noFill/>
          <a:ln/>
        </p:spPr>
        <p:txBody>
          <a:bodyPr wrap="square" rtlCol="0" anchor="ctr"/>
          <a:lstStyle/>
          <a:p>
            <a:pPr marL="0" indent="0">
              <a:buNone/>
            </a:pPr>
            <a:r>
              <a:rPr lang="en-US" sz="900" b="1" kern="0" spc="400" dirty="0">
                <a:solidFill>
                  <a:srgbClr val="8B8F9C"/>
                </a:solidFill>
                <a:latin typeface="Calibri" pitchFamily="34" charset="0"/>
                <a:ea typeface="Calibri" pitchFamily="34" charset="-122"/>
                <a:cs typeface="Calibri" pitchFamily="34" charset="-120"/>
              </a:rPr>
              <a:t>RESUMIND  ·  4/12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457200" y="457200"/>
            <a:ext cx="164592" cy="457200"/>
          </a:xfrm>
          <a:prstGeom prst="rect">
            <a:avLst/>
          </a:prstGeom>
          <a:solidFill>
            <a:srgbClr val="E1251B"/>
          </a:solidFill>
          <a:ln w="12700">
            <a:solidFill>
              <a:srgbClr val="E1251B"/>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600" dirty="0">
                <a:solidFill>
                  <a:srgbClr val="E1251B"/>
                </a:solidFill>
                <a:latin typeface="Calibri" pitchFamily="34" charset="0"/>
                <a:ea typeface="Calibri" pitchFamily="34" charset="-122"/>
                <a:cs typeface="Calibri" pitchFamily="34" charset="-120"/>
              </a:rPr>
              <a:t>BIG DATA · 01</a:t>
            </a:r>
            <a:endParaRPr lang="en-US" sz="1100" dirty="0"/>
          </a:p>
        </p:txBody>
      </p:sp>
      <p:sp>
        <p:nvSpPr>
          <p:cNvPr id="4" name="Text 2"/>
          <p:cNvSpPr/>
          <p:nvPr/>
        </p:nvSpPr>
        <p:spPr>
          <a:xfrm>
            <a:off x="777240" y="914400"/>
            <a:ext cx="10972800" cy="914400"/>
          </a:xfrm>
          <a:prstGeom prst="rect">
            <a:avLst/>
          </a:prstGeom>
          <a:noFill/>
          <a:ln/>
        </p:spPr>
        <p:txBody>
          <a:bodyPr wrap="square" lIns="0" tIns="0" rIns="0" bIns="0" rtlCol="0" anchor="ctr"/>
          <a:lstStyle/>
          <a:p>
            <a:pPr marL="0" indent="0">
              <a:buNone/>
            </a:pPr>
            <a:r>
              <a:rPr lang="en-US" sz="3600" dirty="0">
                <a:solidFill>
                  <a:srgbClr val="0A0F1E"/>
                </a:solidFill>
                <a:latin typeface="Georgia" pitchFamily="34" charset="0"/>
                <a:ea typeface="Georgia" pitchFamily="34" charset="-122"/>
                <a:cs typeface="Georgia" pitchFamily="34" charset="-120"/>
              </a:rPr>
              <a:t>Apache Kafka : la </a:t>
            </a:r>
            <a:r>
              <a:rPr lang="en-US" sz="3600" i="1" dirty="0">
                <a:solidFill>
                  <a:srgbClr val="E1251B"/>
                </a:solidFill>
                <a:latin typeface="Georgia" pitchFamily="34" charset="0"/>
                <a:ea typeface="Georgia" pitchFamily="34" charset="-122"/>
                <a:cs typeface="Georgia" pitchFamily="34" charset="-120"/>
              </a:rPr>
              <a:t>colonne </a:t>
            </a:r>
            <a:r>
              <a:rPr lang="en-US" sz="3600" dirty="0">
                <a:solidFill>
                  <a:srgbClr val="0A0F1E"/>
                </a:solidFill>
                <a:latin typeface="Georgia" pitchFamily="34" charset="0"/>
                <a:ea typeface="Georgia" pitchFamily="34" charset="-122"/>
                <a:cs typeface="Georgia" pitchFamily="34" charset="-120"/>
              </a:rPr>
              <a:t>de messages.</a:t>
            </a:r>
            <a:endParaRPr lang="en-US" sz="3600" dirty="0"/>
          </a:p>
        </p:txBody>
      </p:sp>
      <p:sp>
        <p:nvSpPr>
          <p:cNvPr id="5" name="Text 3"/>
          <p:cNvSpPr/>
          <p:nvPr/>
        </p:nvSpPr>
        <p:spPr>
          <a:xfrm>
            <a:off x="777240" y="2194560"/>
            <a:ext cx="5486400" cy="365760"/>
          </a:xfrm>
          <a:prstGeom prst="rect">
            <a:avLst/>
          </a:prstGeom>
          <a:noFill/>
          <a:ln/>
        </p:spPr>
        <p:txBody>
          <a:bodyPr wrap="square" lIns="0" tIns="0" rIns="0" bIns="0" rtlCol="0" anchor="ctr"/>
          <a:lstStyle/>
          <a:p>
            <a:pPr marL="0" indent="0">
              <a:buNone/>
            </a:pPr>
            <a:r>
              <a:rPr lang="en-US" sz="1600" b="1" i="1" dirty="0">
                <a:solidFill>
                  <a:srgbClr val="0A0F1E"/>
                </a:solidFill>
                <a:latin typeface="Georgia" pitchFamily="34" charset="0"/>
                <a:ea typeface="Georgia" pitchFamily="34" charset="-122"/>
                <a:cs typeface="Georgia" pitchFamily="34" charset="-120"/>
              </a:rPr>
              <a:t>Pourquoi on en a besoin</a:t>
            </a:r>
            <a:endParaRPr lang="en-US" sz="1600" dirty="0"/>
          </a:p>
        </p:txBody>
      </p:sp>
      <p:sp>
        <p:nvSpPr>
          <p:cNvPr id="6" name="Shape 4"/>
          <p:cNvSpPr/>
          <p:nvPr/>
        </p:nvSpPr>
        <p:spPr>
          <a:xfrm>
            <a:off x="777240" y="2697480"/>
            <a:ext cx="502920" cy="502920"/>
          </a:xfrm>
          <a:prstGeom prst="ellipse">
            <a:avLst/>
          </a:prstGeom>
          <a:solidFill>
            <a:srgbClr val="E1251B"/>
          </a:solidFill>
          <a:ln w="12700">
            <a:solidFill>
              <a:srgbClr val="E1251B"/>
            </a:solidFill>
            <a:prstDash val="solid"/>
          </a:ln>
        </p:spPr>
      </p:sp>
      <p:sp>
        <p:nvSpPr>
          <p:cNvPr id="7" name="Text 5"/>
          <p:cNvSpPr/>
          <p:nvPr/>
        </p:nvSpPr>
        <p:spPr>
          <a:xfrm>
            <a:off x="777240" y="2697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1417320" y="2651760"/>
            <a:ext cx="4572000" cy="365760"/>
          </a:xfrm>
          <a:prstGeom prst="rect">
            <a:avLst/>
          </a:prstGeom>
          <a:noFill/>
          <a:ln/>
        </p:spPr>
        <p:txBody>
          <a:bodyPr wrap="square" lIns="0" tIns="0" rIns="0" bIns="0" rtlCol="0" anchor="ctr"/>
          <a:lstStyle/>
          <a:p>
            <a:pPr marL="0" indent="0">
              <a:buNone/>
            </a:pPr>
            <a:r>
              <a:rPr lang="en-US" sz="1600" b="1" dirty="0">
                <a:solidFill>
                  <a:srgbClr val="0A0F1E"/>
                </a:solidFill>
                <a:latin typeface="Georgia" pitchFamily="34" charset="0"/>
                <a:ea typeface="Georgia" pitchFamily="34" charset="-122"/>
                <a:cs typeface="Georgia" pitchFamily="34" charset="-120"/>
              </a:rPr>
              <a:t>Découplage</a:t>
            </a:r>
            <a:endParaRPr lang="en-US" sz="1600" dirty="0"/>
          </a:p>
        </p:txBody>
      </p:sp>
      <p:sp>
        <p:nvSpPr>
          <p:cNvPr id="9" name="Text 7"/>
          <p:cNvSpPr/>
          <p:nvPr/>
        </p:nvSpPr>
        <p:spPr>
          <a:xfrm>
            <a:off x="1417320" y="3017520"/>
            <a:ext cx="5029200" cy="640080"/>
          </a:xfrm>
          <a:prstGeom prst="rect">
            <a:avLst/>
          </a:prstGeom>
          <a:noFill/>
          <a:ln/>
        </p:spPr>
        <p:txBody>
          <a:bodyPr wrap="square" lIns="0" tIns="0" rIns="0" bIns="0" rtlCol="0" anchor="ctr"/>
          <a:lstStyle/>
          <a:p>
            <a:pPr marL="0" indent="0">
              <a:lnSpc>
                <a:spcPct val="135000"/>
              </a:lnSpc>
              <a:buNone/>
            </a:pPr>
            <a:r>
              <a:rPr lang="en-US" sz="1200" dirty="0">
                <a:solidFill>
                  <a:srgbClr val="4A5063"/>
                </a:solidFill>
                <a:latin typeface="Calibri" pitchFamily="34" charset="0"/>
                <a:ea typeface="Calibri" pitchFamily="34" charset="-122"/>
                <a:cs typeface="Calibri" pitchFamily="34" charset="-120"/>
              </a:rPr>
              <a:t>Le site ne se bloque jamais sur Spark. Il publie un message et écoute la réponse.</a:t>
            </a:r>
            <a:endParaRPr lang="en-US" sz="1200" dirty="0"/>
          </a:p>
        </p:txBody>
      </p:sp>
      <p:sp>
        <p:nvSpPr>
          <p:cNvPr id="10" name="Shape 8"/>
          <p:cNvSpPr/>
          <p:nvPr/>
        </p:nvSpPr>
        <p:spPr>
          <a:xfrm>
            <a:off x="777240" y="3657600"/>
            <a:ext cx="502920" cy="502920"/>
          </a:xfrm>
          <a:prstGeom prst="ellipse">
            <a:avLst/>
          </a:prstGeom>
          <a:solidFill>
            <a:srgbClr val="E1251B"/>
          </a:solidFill>
          <a:ln w="12700">
            <a:solidFill>
              <a:srgbClr val="E1251B"/>
            </a:solidFill>
            <a:prstDash val="solid"/>
          </a:ln>
        </p:spPr>
      </p:sp>
      <p:sp>
        <p:nvSpPr>
          <p:cNvPr id="11" name="Text 9"/>
          <p:cNvSpPr/>
          <p:nvPr/>
        </p:nvSpPr>
        <p:spPr>
          <a:xfrm>
            <a:off x="777240" y="36576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2" name="Text 10"/>
          <p:cNvSpPr/>
          <p:nvPr/>
        </p:nvSpPr>
        <p:spPr>
          <a:xfrm>
            <a:off x="1417320" y="3611880"/>
            <a:ext cx="4572000" cy="365760"/>
          </a:xfrm>
          <a:prstGeom prst="rect">
            <a:avLst/>
          </a:prstGeom>
          <a:noFill/>
          <a:ln/>
        </p:spPr>
        <p:txBody>
          <a:bodyPr wrap="square" lIns="0" tIns="0" rIns="0" bIns="0" rtlCol="0" anchor="ctr"/>
          <a:lstStyle/>
          <a:p>
            <a:pPr marL="0" indent="0">
              <a:buNone/>
            </a:pPr>
            <a:r>
              <a:rPr lang="en-US" sz="1600" b="1" dirty="0">
                <a:solidFill>
                  <a:srgbClr val="0A0F1E"/>
                </a:solidFill>
                <a:latin typeface="Georgia" pitchFamily="34" charset="0"/>
                <a:ea typeface="Georgia" pitchFamily="34" charset="-122"/>
                <a:cs typeface="Georgia" pitchFamily="34" charset="-120"/>
              </a:rPr>
              <a:t>Aucune perte</a:t>
            </a:r>
            <a:endParaRPr lang="en-US" sz="1600" dirty="0"/>
          </a:p>
        </p:txBody>
      </p:sp>
      <p:sp>
        <p:nvSpPr>
          <p:cNvPr id="13" name="Text 11"/>
          <p:cNvSpPr/>
          <p:nvPr/>
        </p:nvSpPr>
        <p:spPr>
          <a:xfrm>
            <a:off x="1417320" y="3977640"/>
            <a:ext cx="5029200" cy="640080"/>
          </a:xfrm>
          <a:prstGeom prst="rect">
            <a:avLst/>
          </a:prstGeom>
          <a:noFill/>
          <a:ln/>
        </p:spPr>
        <p:txBody>
          <a:bodyPr wrap="square" lIns="0" tIns="0" rIns="0" bIns="0" rtlCol="0" anchor="ctr"/>
          <a:lstStyle/>
          <a:p>
            <a:pPr marL="0" indent="0">
              <a:lnSpc>
                <a:spcPct val="135000"/>
              </a:lnSpc>
              <a:buNone/>
            </a:pPr>
            <a:r>
              <a:rPr lang="en-US" sz="1200" dirty="0">
                <a:solidFill>
                  <a:srgbClr val="4A5063"/>
                </a:solidFill>
                <a:latin typeface="Calibri" pitchFamily="34" charset="0"/>
                <a:ea typeface="Calibri" pitchFamily="34" charset="-122"/>
                <a:cs typeface="Calibri" pitchFamily="34" charset="-120"/>
              </a:rPr>
              <a:t>Si le worker plante, les candidats restent en file dans Kafka. Ils seront traités au retour.</a:t>
            </a:r>
            <a:endParaRPr lang="en-US" sz="1200" dirty="0"/>
          </a:p>
        </p:txBody>
      </p:sp>
      <p:sp>
        <p:nvSpPr>
          <p:cNvPr id="14" name="Shape 12"/>
          <p:cNvSpPr/>
          <p:nvPr/>
        </p:nvSpPr>
        <p:spPr>
          <a:xfrm>
            <a:off x="777240" y="4617720"/>
            <a:ext cx="502920" cy="502920"/>
          </a:xfrm>
          <a:prstGeom prst="ellipse">
            <a:avLst/>
          </a:prstGeom>
          <a:solidFill>
            <a:srgbClr val="E1251B"/>
          </a:solidFill>
          <a:ln w="12700">
            <a:solidFill>
              <a:srgbClr val="E1251B"/>
            </a:solidFill>
            <a:prstDash val="solid"/>
          </a:ln>
        </p:spPr>
      </p:sp>
      <p:sp>
        <p:nvSpPr>
          <p:cNvPr id="15" name="Text 13"/>
          <p:cNvSpPr/>
          <p:nvPr/>
        </p:nvSpPr>
        <p:spPr>
          <a:xfrm>
            <a:off x="777240" y="46177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417320" y="4572000"/>
            <a:ext cx="4572000" cy="365760"/>
          </a:xfrm>
          <a:prstGeom prst="rect">
            <a:avLst/>
          </a:prstGeom>
          <a:noFill/>
          <a:ln/>
        </p:spPr>
        <p:txBody>
          <a:bodyPr wrap="square" lIns="0" tIns="0" rIns="0" bIns="0" rtlCol="0" anchor="ctr"/>
          <a:lstStyle/>
          <a:p>
            <a:pPr marL="0" indent="0">
              <a:buNone/>
            </a:pPr>
            <a:r>
              <a:rPr lang="en-US" sz="1600" b="1" dirty="0">
                <a:solidFill>
                  <a:srgbClr val="0A0F1E"/>
                </a:solidFill>
                <a:latin typeface="Georgia" pitchFamily="34" charset="0"/>
                <a:ea typeface="Georgia" pitchFamily="34" charset="-122"/>
                <a:cs typeface="Georgia" pitchFamily="34" charset="-120"/>
              </a:rPr>
              <a:t>Fan-out, prêt</a:t>
            </a:r>
            <a:endParaRPr lang="en-US" sz="1600" dirty="0"/>
          </a:p>
        </p:txBody>
      </p:sp>
      <p:sp>
        <p:nvSpPr>
          <p:cNvPr id="17" name="Text 15"/>
          <p:cNvSpPr/>
          <p:nvPr/>
        </p:nvSpPr>
        <p:spPr>
          <a:xfrm>
            <a:off x="1417320" y="4937760"/>
            <a:ext cx="5029200" cy="640080"/>
          </a:xfrm>
          <a:prstGeom prst="rect">
            <a:avLst/>
          </a:prstGeom>
          <a:noFill/>
          <a:ln/>
        </p:spPr>
        <p:txBody>
          <a:bodyPr wrap="square" lIns="0" tIns="0" rIns="0" bIns="0" rtlCol="0" anchor="ctr"/>
          <a:lstStyle/>
          <a:p>
            <a:pPr marL="0" indent="0">
              <a:lnSpc>
                <a:spcPct val="135000"/>
              </a:lnSpc>
              <a:buNone/>
            </a:pPr>
            <a:r>
              <a:rPr lang="en-US" sz="1200" dirty="0">
                <a:solidFill>
                  <a:srgbClr val="4A5063"/>
                </a:solidFill>
                <a:latin typeface="Calibri" pitchFamily="34" charset="0"/>
                <a:ea typeface="Calibri" pitchFamily="34" charset="-122"/>
                <a:cs typeface="Calibri" pitchFamily="34" charset="-120"/>
              </a:rPr>
              <a:t>Un topic, plusieurs consommateurs. Idéal pour le tableau de bord analytics à venir.</a:t>
            </a:r>
            <a:endParaRPr lang="en-US" sz="1200" dirty="0"/>
          </a:p>
        </p:txBody>
      </p:sp>
      <p:sp>
        <p:nvSpPr>
          <p:cNvPr id="18" name="Shape 16"/>
          <p:cNvSpPr/>
          <p:nvPr/>
        </p:nvSpPr>
        <p:spPr>
          <a:xfrm>
            <a:off x="6858000" y="2194560"/>
            <a:ext cx="4572000" cy="4023360"/>
          </a:xfrm>
          <a:prstGeom prst="rect">
            <a:avLst/>
          </a:prstGeom>
          <a:solidFill>
            <a:srgbClr val="FCEFC7"/>
          </a:solidFill>
          <a:ln w="12700">
            <a:solidFill>
              <a:srgbClr val="E8B91A"/>
            </a:solidFill>
            <a:prstDash val="solid"/>
          </a:ln>
        </p:spPr>
      </p:sp>
      <p:sp>
        <p:nvSpPr>
          <p:cNvPr id="19" name="Shape 17"/>
          <p:cNvSpPr/>
          <p:nvPr/>
        </p:nvSpPr>
        <p:spPr>
          <a:xfrm>
            <a:off x="6858000" y="2194560"/>
            <a:ext cx="4572000" cy="91440"/>
          </a:xfrm>
          <a:prstGeom prst="rect">
            <a:avLst/>
          </a:prstGeom>
          <a:solidFill>
            <a:srgbClr val="E1251B"/>
          </a:solidFill>
          <a:ln w="12700">
            <a:solidFill>
              <a:srgbClr val="E1251B"/>
            </a:solidFill>
            <a:prstDash val="solid"/>
          </a:ln>
        </p:spPr>
      </p:sp>
      <p:sp>
        <p:nvSpPr>
          <p:cNvPr id="20" name="Text 18"/>
          <p:cNvSpPr/>
          <p:nvPr/>
        </p:nvSpPr>
        <p:spPr>
          <a:xfrm>
            <a:off x="7178040" y="2514600"/>
            <a:ext cx="4206240" cy="274320"/>
          </a:xfrm>
          <a:prstGeom prst="rect">
            <a:avLst/>
          </a:prstGeom>
          <a:noFill/>
          <a:ln/>
        </p:spPr>
        <p:txBody>
          <a:bodyPr wrap="square" lIns="0" tIns="0" rIns="0" bIns="0" rtlCol="0" anchor="ctr"/>
          <a:lstStyle/>
          <a:p>
            <a:pPr marL="0" indent="0">
              <a:buNone/>
            </a:pPr>
            <a:r>
              <a:rPr lang="en-US" sz="1000" b="1" kern="0" spc="500" dirty="0">
                <a:solidFill>
                  <a:srgbClr val="A8190F"/>
                </a:solidFill>
                <a:latin typeface="Calibri" pitchFamily="34" charset="0"/>
                <a:ea typeface="Calibri" pitchFamily="34" charset="-122"/>
                <a:cs typeface="Calibri" pitchFamily="34" charset="-120"/>
              </a:rPr>
              <a:t>LE PATTERN UTILISÉ</a:t>
            </a:r>
            <a:endParaRPr lang="en-US" sz="1000" dirty="0"/>
          </a:p>
        </p:txBody>
      </p:sp>
      <p:sp>
        <p:nvSpPr>
          <p:cNvPr id="21" name="Text 19"/>
          <p:cNvSpPr/>
          <p:nvPr/>
        </p:nvSpPr>
        <p:spPr>
          <a:xfrm>
            <a:off x="7178040" y="2880360"/>
            <a:ext cx="4206240" cy="822960"/>
          </a:xfrm>
          <a:prstGeom prst="rect">
            <a:avLst/>
          </a:prstGeom>
          <a:noFill/>
          <a:ln/>
        </p:spPr>
        <p:txBody>
          <a:bodyPr wrap="square" lIns="0" tIns="0" rIns="0" bIns="0" rtlCol="0" anchor="ctr"/>
          <a:lstStyle/>
          <a:p>
            <a:pPr marL="0" indent="0">
              <a:buNone/>
            </a:pPr>
            <a:r>
              <a:rPr lang="en-US" sz="3000" i="1" dirty="0">
                <a:solidFill>
                  <a:srgbClr val="0A0F1E"/>
                </a:solidFill>
                <a:latin typeface="Georgia" pitchFamily="34" charset="0"/>
                <a:ea typeface="Georgia" pitchFamily="34" charset="-122"/>
                <a:cs typeface="Georgia" pitchFamily="34" charset="-120"/>
              </a:rPr>
              <a:t>Request / Reply.</a:t>
            </a:r>
            <a:endParaRPr lang="en-US" sz="3000" dirty="0"/>
          </a:p>
        </p:txBody>
      </p:sp>
      <p:sp>
        <p:nvSpPr>
          <p:cNvPr id="22" name="Text 20"/>
          <p:cNvSpPr/>
          <p:nvPr/>
        </p:nvSpPr>
        <p:spPr>
          <a:xfrm>
            <a:off x="7178040" y="3840480"/>
            <a:ext cx="4206240" cy="1371600"/>
          </a:xfrm>
          <a:prstGeom prst="rect">
            <a:avLst/>
          </a:prstGeom>
          <a:noFill/>
          <a:ln/>
        </p:spPr>
        <p:txBody>
          <a:bodyPr wrap="square" lIns="0" tIns="0" rIns="0" bIns="0" rtlCol="0" anchor="ctr"/>
          <a:lstStyle/>
          <a:p>
            <a:pPr marL="0" indent="0">
              <a:lnSpc>
                <a:spcPct val="140000"/>
              </a:lnSpc>
              <a:buNone/>
            </a:pPr>
            <a:r>
              <a:rPr lang="en-US" sz="1200" dirty="0">
                <a:solidFill>
                  <a:srgbClr val="4A5063"/>
                </a:solidFill>
                <a:latin typeface="Calibri" pitchFamily="34" charset="0"/>
                <a:ea typeface="Calibri" pitchFamily="34" charset="-122"/>
                <a:cs typeface="Calibri" pitchFamily="34" charset="-120"/>
              </a:rPr>
              <a:t>Le backend Node publie un message avec un identifiant unique sur le topic d'entrée, puis attend la réponse correspondante sur le topic de sortie. Un pattern simple qui transforme un système asynchrone en API synchrone côté utilisateur.</a:t>
            </a:r>
            <a:endParaRPr lang="en-US" sz="1200" dirty="0"/>
          </a:p>
        </p:txBody>
      </p:sp>
      <p:sp>
        <p:nvSpPr>
          <p:cNvPr id="23" name="Text 21"/>
          <p:cNvSpPr/>
          <p:nvPr/>
        </p:nvSpPr>
        <p:spPr>
          <a:xfrm>
            <a:off x="7178040" y="5166360"/>
            <a:ext cx="1371600" cy="685800"/>
          </a:xfrm>
          <a:prstGeom prst="rect">
            <a:avLst/>
          </a:prstGeom>
          <a:noFill/>
          <a:ln/>
        </p:spPr>
        <p:txBody>
          <a:bodyPr wrap="square" lIns="0" tIns="0" rIns="0" bIns="0" rtlCol="0" anchor="ctr"/>
          <a:lstStyle/>
          <a:p>
            <a:pPr marL="0" indent="0">
              <a:buNone/>
            </a:pPr>
            <a:r>
              <a:rPr lang="en-US" sz="4400" b="1" dirty="0">
                <a:solidFill>
                  <a:srgbClr val="E1251B"/>
                </a:solidFill>
                <a:latin typeface="Georgia" pitchFamily="34" charset="0"/>
                <a:ea typeface="Georgia" pitchFamily="34" charset="-122"/>
                <a:cs typeface="Georgia" pitchFamily="34" charset="-120"/>
              </a:rPr>
              <a:t>2</a:t>
            </a:r>
            <a:endParaRPr lang="en-US" sz="4400" dirty="0"/>
          </a:p>
        </p:txBody>
      </p:sp>
      <p:sp>
        <p:nvSpPr>
          <p:cNvPr id="24" name="Text 22"/>
          <p:cNvSpPr/>
          <p:nvPr/>
        </p:nvSpPr>
        <p:spPr>
          <a:xfrm>
            <a:off x="7178040" y="5852160"/>
            <a:ext cx="2286000" cy="274320"/>
          </a:xfrm>
          <a:prstGeom prst="rect">
            <a:avLst/>
          </a:prstGeom>
          <a:noFill/>
          <a:ln/>
        </p:spPr>
        <p:txBody>
          <a:bodyPr wrap="square" lIns="0" tIns="0" rIns="0" bIns="0" rtlCol="0" anchor="ctr"/>
          <a:lstStyle/>
          <a:p>
            <a:pPr marL="0" indent="0">
              <a:buNone/>
            </a:pPr>
            <a:r>
              <a:rPr lang="en-US" sz="1000" kern="0" spc="100" dirty="0">
                <a:solidFill>
                  <a:srgbClr val="4A5063"/>
                </a:solidFill>
                <a:latin typeface="Calibri" pitchFamily="34" charset="0"/>
                <a:ea typeface="Calibri" pitchFamily="34" charset="-122"/>
                <a:cs typeface="Calibri" pitchFamily="34" charset="-120"/>
              </a:rPr>
              <a:t>Topics en production</a:t>
            </a:r>
            <a:endParaRPr lang="en-US" sz="1000" dirty="0"/>
          </a:p>
        </p:txBody>
      </p:sp>
      <p:sp>
        <p:nvSpPr>
          <p:cNvPr id="25" name="Text 23"/>
          <p:cNvSpPr/>
          <p:nvPr/>
        </p:nvSpPr>
        <p:spPr>
          <a:xfrm>
            <a:off x="9509760" y="5166360"/>
            <a:ext cx="1371600" cy="685800"/>
          </a:xfrm>
          <a:prstGeom prst="rect">
            <a:avLst/>
          </a:prstGeom>
          <a:noFill/>
          <a:ln/>
        </p:spPr>
        <p:txBody>
          <a:bodyPr wrap="square" lIns="0" tIns="0" rIns="0" bIns="0" rtlCol="0" anchor="ctr"/>
          <a:lstStyle/>
          <a:p>
            <a:pPr marL="0" indent="0">
              <a:buNone/>
            </a:pPr>
            <a:r>
              <a:rPr lang="en-US" sz="4400" b="1" dirty="0">
                <a:solidFill>
                  <a:srgbClr val="E1251B"/>
                </a:solidFill>
                <a:latin typeface="Georgia" pitchFamily="34" charset="0"/>
                <a:ea typeface="Georgia" pitchFamily="34" charset="-122"/>
                <a:cs typeface="Georgia" pitchFamily="34" charset="-120"/>
              </a:rPr>
              <a:t>30s</a:t>
            </a:r>
            <a:endParaRPr lang="en-US" sz="4400" dirty="0"/>
          </a:p>
        </p:txBody>
      </p:sp>
      <p:sp>
        <p:nvSpPr>
          <p:cNvPr id="26" name="Text 24"/>
          <p:cNvSpPr/>
          <p:nvPr/>
        </p:nvSpPr>
        <p:spPr>
          <a:xfrm>
            <a:off x="9509760" y="5852160"/>
            <a:ext cx="2286000" cy="274320"/>
          </a:xfrm>
          <a:prstGeom prst="rect">
            <a:avLst/>
          </a:prstGeom>
          <a:noFill/>
          <a:ln/>
        </p:spPr>
        <p:txBody>
          <a:bodyPr wrap="square" lIns="0" tIns="0" rIns="0" bIns="0" rtlCol="0" anchor="ctr"/>
          <a:lstStyle/>
          <a:p>
            <a:pPr marL="0" indent="0">
              <a:buNone/>
            </a:pPr>
            <a:r>
              <a:rPr lang="en-US" sz="1000" kern="0" spc="100" dirty="0">
                <a:solidFill>
                  <a:srgbClr val="4A5063"/>
                </a:solidFill>
                <a:latin typeface="Calibri" pitchFamily="34" charset="0"/>
                <a:ea typeface="Calibri" pitchFamily="34" charset="-122"/>
                <a:cs typeface="Calibri" pitchFamily="34" charset="-120"/>
              </a:rPr>
              <a:t>Fenêtre de timeout</a:t>
            </a:r>
            <a:endParaRPr lang="en-US" sz="1000" dirty="0"/>
          </a:p>
        </p:txBody>
      </p:sp>
      <p:sp>
        <p:nvSpPr>
          <p:cNvPr id="27" name="Text 25"/>
          <p:cNvSpPr/>
          <p:nvPr/>
        </p:nvSpPr>
        <p:spPr>
          <a:xfrm>
            <a:off x="457200" y="6400800"/>
            <a:ext cx="5486400" cy="274320"/>
          </a:xfrm>
          <a:prstGeom prst="rect">
            <a:avLst/>
          </a:prstGeom>
          <a:noFill/>
          <a:ln/>
        </p:spPr>
        <p:txBody>
          <a:bodyPr wrap="square" rtlCol="0" anchor="ctr"/>
          <a:lstStyle/>
          <a:p>
            <a:pPr marL="0" indent="0">
              <a:buNone/>
            </a:pPr>
            <a:r>
              <a:rPr lang="en-US" sz="900" b="1" kern="0" spc="400" dirty="0">
                <a:solidFill>
                  <a:srgbClr val="8B8F9C"/>
                </a:solidFill>
                <a:latin typeface="Calibri" pitchFamily="34" charset="0"/>
                <a:ea typeface="Calibri" pitchFamily="34" charset="-122"/>
                <a:cs typeface="Calibri" pitchFamily="34" charset="-120"/>
              </a:rPr>
              <a:t>RESUMIND  ·  5/12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457200" y="457200"/>
            <a:ext cx="164592" cy="457200"/>
          </a:xfrm>
          <a:prstGeom prst="rect">
            <a:avLst/>
          </a:prstGeom>
          <a:solidFill>
            <a:srgbClr val="E1251B"/>
          </a:solidFill>
          <a:ln w="12700">
            <a:solidFill>
              <a:srgbClr val="E1251B"/>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600" dirty="0">
                <a:solidFill>
                  <a:srgbClr val="E1251B"/>
                </a:solidFill>
                <a:latin typeface="Calibri" pitchFamily="34" charset="0"/>
                <a:ea typeface="Calibri" pitchFamily="34" charset="-122"/>
                <a:cs typeface="Calibri" pitchFamily="34" charset="-120"/>
              </a:rPr>
              <a:t>BIG DATA · 02</a:t>
            </a:r>
            <a:endParaRPr lang="en-US" sz="1100" dirty="0"/>
          </a:p>
        </p:txBody>
      </p:sp>
      <p:sp>
        <p:nvSpPr>
          <p:cNvPr id="4" name="Text 2"/>
          <p:cNvSpPr/>
          <p:nvPr/>
        </p:nvSpPr>
        <p:spPr>
          <a:xfrm>
            <a:off x="777240" y="914400"/>
            <a:ext cx="10972800" cy="914400"/>
          </a:xfrm>
          <a:prstGeom prst="rect">
            <a:avLst/>
          </a:prstGeom>
          <a:noFill/>
          <a:ln/>
        </p:spPr>
        <p:txBody>
          <a:bodyPr wrap="square" lIns="0" tIns="0" rIns="0" bIns="0" rtlCol="0" anchor="ctr"/>
          <a:lstStyle/>
          <a:p>
            <a:pPr marL="0" indent="0">
              <a:buNone/>
            </a:pPr>
            <a:r>
              <a:rPr lang="en-US" sz="3600" dirty="0">
                <a:solidFill>
                  <a:srgbClr val="0A0F1E"/>
                </a:solidFill>
                <a:latin typeface="Georgia" pitchFamily="34" charset="0"/>
                <a:ea typeface="Georgia" pitchFamily="34" charset="-122"/>
                <a:cs typeface="Georgia" pitchFamily="34" charset="-120"/>
              </a:rPr>
              <a:t>Apache Spark : </a:t>
            </a:r>
            <a:r>
              <a:rPr lang="en-US" sz="3600" i="1" dirty="0">
                <a:solidFill>
                  <a:srgbClr val="E1251B"/>
                </a:solidFill>
                <a:latin typeface="Georgia" pitchFamily="34" charset="0"/>
                <a:ea typeface="Georgia" pitchFamily="34" charset="-122"/>
                <a:cs typeface="Georgia" pitchFamily="34" charset="-120"/>
              </a:rPr>
              <a:t>passer </a:t>
            </a:r>
            <a:r>
              <a:rPr lang="en-US" sz="3600" dirty="0">
                <a:solidFill>
                  <a:srgbClr val="0A0F1E"/>
                </a:solidFill>
                <a:latin typeface="Georgia" pitchFamily="34" charset="0"/>
                <a:ea typeface="Georgia" pitchFamily="34" charset="-122"/>
                <a:cs typeface="Georgia" pitchFamily="34" charset="-120"/>
              </a:rPr>
              <a:t>à l'échelle.</a:t>
            </a:r>
            <a:endParaRPr lang="en-US" sz="3600" dirty="0"/>
          </a:p>
        </p:txBody>
      </p:sp>
      <p:sp>
        <p:nvSpPr>
          <p:cNvPr id="5" name="Text 3"/>
          <p:cNvSpPr/>
          <p:nvPr/>
        </p:nvSpPr>
        <p:spPr>
          <a:xfrm>
            <a:off x="777240" y="2194560"/>
            <a:ext cx="6858000" cy="1554480"/>
          </a:xfrm>
          <a:prstGeom prst="rect">
            <a:avLst/>
          </a:prstGeom>
          <a:noFill/>
          <a:ln/>
        </p:spPr>
        <p:txBody>
          <a:bodyPr wrap="square" lIns="0" tIns="0" rIns="0" bIns="0" rtlCol="0" anchor="ctr"/>
          <a:lstStyle/>
          <a:p>
            <a:pPr marL="0" indent="0">
              <a:buNone/>
            </a:pPr>
            <a:r>
              <a:rPr lang="en-US" sz="9600" b="1" dirty="0">
                <a:solidFill>
                  <a:srgbClr val="E1251B"/>
                </a:solidFill>
                <a:latin typeface="Georgia" pitchFamily="34" charset="0"/>
                <a:ea typeface="Georgia" pitchFamily="34" charset="-122"/>
                <a:cs typeface="Georgia" pitchFamily="34" charset="-120"/>
              </a:rPr>
              <a:t>600 000</a:t>
            </a:r>
            <a:endParaRPr lang="en-US" sz="9600" dirty="0"/>
          </a:p>
        </p:txBody>
      </p:sp>
      <p:sp>
        <p:nvSpPr>
          <p:cNvPr id="6" name="Text 4"/>
          <p:cNvSpPr/>
          <p:nvPr/>
        </p:nvSpPr>
        <p:spPr>
          <a:xfrm>
            <a:off x="777240" y="3931920"/>
            <a:ext cx="6766560" cy="822960"/>
          </a:xfrm>
          <a:prstGeom prst="rect">
            <a:avLst/>
          </a:prstGeom>
          <a:noFill/>
          <a:ln/>
        </p:spPr>
        <p:txBody>
          <a:bodyPr wrap="square" lIns="0" tIns="0" rIns="0" bIns="0" rtlCol="0" anchor="ctr"/>
          <a:lstStyle/>
          <a:p>
            <a:pPr marL="0" indent="0">
              <a:lnSpc>
                <a:spcPct val="140000"/>
              </a:lnSpc>
              <a:buNone/>
            </a:pPr>
            <a:r>
              <a:rPr lang="en-US" sz="1300" dirty="0">
                <a:solidFill>
                  <a:srgbClr val="4A5063"/>
                </a:solidFill>
                <a:latin typeface="Calibri" pitchFamily="34" charset="0"/>
                <a:ea typeface="Calibri" pitchFamily="34" charset="-122"/>
                <a:cs typeface="Calibri" pitchFamily="34" charset="-120"/>
              </a:rPr>
              <a:t>CV d'entraînement — générés aléatoirement, étiquetés par un</a:t>
            </a:r>
            <a:endParaRPr lang="en-US" sz="1300" dirty="0"/>
          </a:p>
          <a:p>
            <a:pPr marL="0" indent="0">
              <a:lnSpc>
                <a:spcPct val="140000"/>
              </a:lnSpc>
              <a:buNone/>
            </a:pPr>
            <a:r>
              <a:rPr lang="en-US" sz="1300" dirty="0">
                <a:solidFill>
                  <a:srgbClr val="4A5063"/>
                </a:solidFill>
                <a:latin typeface="Calibri" pitchFamily="34" charset="0"/>
                <a:ea typeface="Calibri" pitchFamily="34" charset="-122"/>
                <a:cs typeface="Calibri" pitchFamily="34" charset="-120"/>
              </a:rPr>
              <a:t>moteur de règles, entraînés avec Random Forest de Spark MLlib.</a:t>
            </a:r>
            <a:endParaRPr lang="en-US" sz="1300" dirty="0"/>
          </a:p>
        </p:txBody>
      </p:sp>
      <p:sp>
        <p:nvSpPr>
          <p:cNvPr id="7" name="Shape 5"/>
          <p:cNvSpPr/>
          <p:nvPr/>
        </p:nvSpPr>
        <p:spPr>
          <a:xfrm>
            <a:off x="777240" y="4937760"/>
            <a:ext cx="2057400" cy="1280160"/>
          </a:xfrm>
          <a:prstGeom prst="rect">
            <a:avLst/>
          </a:prstGeom>
          <a:solidFill>
            <a:srgbClr val="FFFFFF"/>
          </a:solidFill>
          <a:ln w="12700">
            <a:solidFill>
              <a:srgbClr val="E5E2D9"/>
            </a:solidFill>
            <a:prstDash val="solid"/>
          </a:ln>
        </p:spPr>
      </p:sp>
      <p:sp>
        <p:nvSpPr>
          <p:cNvPr id="8" name="Text 6"/>
          <p:cNvSpPr/>
          <p:nvPr/>
        </p:nvSpPr>
        <p:spPr>
          <a:xfrm>
            <a:off x="777240" y="5029200"/>
            <a:ext cx="2057400" cy="457200"/>
          </a:xfrm>
          <a:prstGeom prst="rect">
            <a:avLst/>
          </a:prstGeom>
          <a:noFill/>
          <a:ln/>
        </p:spPr>
        <p:txBody>
          <a:bodyPr wrap="square" lIns="0" tIns="0" rIns="0" bIns="0" rtlCol="0" anchor="ctr"/>
          <a:lstStyle/>
          <a:p>
            <a:pPr marL="0" indent="0" algn="ctr">
              <a:buNone/>
            </a:pPr>
            <a:r>
              <a:rPr lang="en-US" sz="2800" b="1" dirty="0">
                <a:solidFill>
                  <a:srgbClr val="E1251B"/>
                </a:solidFill>
                <a:latin typeface="Georgia" pitchFamily="34" charset="0"/>
                <a:ea typeface="Georgia" pitchFamily="34" charset="-122"/>
                <a:cs typeface="Georgia" pitchFamily="34" charset="-120"/>
              </a:rPr>
              <a:t>3</a:t>
            </a:r>
            <a:endParaRPr lang="en-US" sz="2800" dirty="0"/>
          </a:p>
        </p:txBody>
      </p:sp>
      <p:sp>
        <p:nvSpPr>
          <p:cNvPr id="9" name="Text 7"/>
          <p:cNvSpPr/>
          <p:nvPr/>
        </p:nvSpPr>
        <p:spPr>
          <a:xfrm>
            <a:off x="777240" y="5577840"/>
            <a:ext cx="2057400" cy="274320"/>
          </a:xfrm>
          <a:prstGeom prst="rect">
            <a:avLst/>
          </a:prstGeom>
          <a:noFill/>
          <a:ln/>
        </p:spPr>
        <p:txBody>
          <a:bodyPr wrap="square" lIns="0" tIns="0" rIns="0" bIns="0" rtlCol="0" anchor="ctr"/>
          <a:lstStyle/>
          <a:p>
            <a:pPr marL="0" indent="0" algn="ctr">
              <a:buNone/>
            </a:pPr>
            <a:r>
              <a:rPr lang="en-US" sz="1100" b="1" dirty="0">
                <a:solidFill>
                  <a:srgbClr val="0A0F1E"/>
                </a:solidFill>
                <a:latin typeface="Calibri" pitchFamily="34" charset="0"/>
                <a:ea typeface="Calibri" pitchFamily="34" charset="-122"/>
                <a:cs typeface="Calibri" pitchFamily="34" charset="-120"/>
              </a:rPr>
              <a:t>Variables par CV</a:t>
            </a:r>
            <a:endParaRPr lang="en-US" sz="1100" dirty="0"/>
          </a:p>
        </p:txBody>
      </p:sp>
      <p:sp>
        <p:nvSpPr>
          <p:cNvPr id="10" name="Text 8"/>
          <p:cNvSpPr/>
          <p:nvPr/>
        </p:nvSpPr>
        <p:spPr>
          <a:xfrm>
            <a:off x="777240" y="5852160"/>
            <a:ext cx="2057400" cy="274320"/>
          </a:xfrm>
          <a:prstGeom prst="rect">
            <a:avLst/>
          </a:prstGeom>
          <a:noFill/>
          <a:ln/>
        </p:spPr>
        <p:txBody>
          <a:bodyPr wrap="square" lIns="0" tIns="0" rIns="0" bIns="0" rtlCol="0" anchor="ctr"/>
          <a:lstStyle/>
          <a:p>
            <a:pPr marL="0" indent="0" algn="ctr">
              <a:buNone/>
            </a:pPr>
            <a:r>
              <a:rPr lang="en-US" sz="900" i="1" dirty="0">
                <a:solidFill>
                  <a:srgbClr val="8B8F9C"/>
                </a:solidFill>
                <a:latin typeface="Calibri" pitchFamily="34" charset="0"/>
                <a:ea typeface="Calibri" pitchFamily="34" charset="-122"/>
                <a:cs typeface="Calibri" pitchFamily="34" charset="-120"/>
              </a:rPr>
              <a:t>compétences · années · diplôme</a:t>
            </a:r>
            <a:endParaRPr lang="en-US" sz="900" dirty="0"/>
          </a:p>
        </p:txBody>
      </p:sp>
      <p:sp>
        <p:nvSpPr>
          <p:cNvPr id="11" name="Shape 9"/>
          <p:cNvSpPr/>
          <p:nvPr/>
        </p:nvSpPr>
        <p:spPr>
          <a:xfrm>
            <a:off x="3017520" y="4937760"/>
            <a:ext cx="2057400" cy="1280160"/>
          </a:xfrm>
          <a:prstGeom prst="rect">
            <a:avLst/>
          </a:prstGeom>
          <a:solidFill>
            <a:srgbClr val="FFFFFF"/>
          </a:solidFill>
          <a:ln w="12700">
            <a:solidFill>
              <a:srgbClr val="E5E2D9"/>
            </a:solidFill>
            <a:prstDash val="solid"/>
          </a:ln>
        </p:spPr>
      </p:sp>
      <p:sp>
        <p:nvSpPr>
          <p:cNvPr id="12" name="Text 10"/>
          <p:cNvSpPr/>
          <p:nvPr/>
        </p:nvSpPr>
        <p:spPr>
          <a:xfrm>
            <a:off x="3017520" y="5029200"/>
            <a:ext cx="2057400" cy="457200"/>
          </a:xfrm>
          <a:prstGeom prst="rect">
            <a:avLst/>
          </a:prstGeom>
          <a:noFill/>
          <a:ln/>
        </p:spPr>
        <p:txBody>
          <a:bodyPr wrap="square" lIns="0" tIns="0" rIns="0" bIns="0" rtlCol="0" anchor="ctr"/>
          <a:lstStyle/>
          <a:p>
            <a:pPr marL="0" indent="0" algn="ctr">
              <a:buNone/>
            </a:pPr>
            <a:r>
              <a:rPr lang="en-US" sz="2800" b="1" dirty="0">
                <a:solidFill>
                  <a:srgbClr val="E1251B"/>
                </a:solidFill>
                <a:latin typeface="Georgia" pitchFamily="34" charset="0"/>
                <a:ea typeface="Georgia" pitchFamily="34" charset="-122"/>
                <a:cs typeface="Georgia" pitchFamily="34" charset="-120"/>
              </a:rPr>
              <a:t>RF</a:t>
            </a:r>
            <a:endParaRPr lang="en-US" sz="2800" dirty="0"/>
          </a:p>
        </p:txBody>
      </p:sp>
      <p:sp>
        <p:nvSpPr>
          <p:cNvPr id="13" name="Text 11"/>
          <p:cNvSpPr/>
          <p:nvPr/>
        </p:nvSpPr>
        <p:spPr>
          <a:xfrm>
            <a:off x="3017520" y="5577840"/>
            <a:ext cx="2057400" cy="274320"/>
          </a:xfrm>
          <a:prstGeom prst="rect">
            <a:avLst/>
          </a:prstGeom>
          <a:noFill/>
          <a:ln/>
        </p:spPr>
        <p:txBody>
          <a:bodyPr wrap="square" lIns="0" tIns="0" rIns="0" bIns="0" rtlCol="0" anchor="ctr"/>
          <a:lstStyle/>
          <a:p>
            <a:pPr marL="0" indent="0" algn="ctr">
              <a:buNone/>
            </a:pPr>
            <a:r>
              <a:rPr lang="en-US" sz="1100" b="1" dirty="0">
                <a:solidFill>
                  <a:srgbClr val="0A0F1E"/>
                </a:solidFill>
                <a:latin typeface="Calibri" pitchFamily="34" charset="0"/>
                <a:ea typeface="Calibri" pitchFamily="34" charset="-122"/>
                <a:cs typeface="Calibri" pitchFamily="34" charset="-120"/>
              </a:rPr>
              <a:t>Random Forest</a:t>
            </a:r>
            <a:endParaRPr lang="en-US" sz="1100" dirty="0"/>
          </a:p>
        </p:txBody>
      </p:sp>
      <p:sp>
        <p:nvSpPr>
          <p:cNvPr id="14" name="Text 12"/>
          <p:cNvSpPr/>
          <p:nvPr/>
        </p:nvSpPr>
        <p:spPr>
          <a:xfrm>
            <a:off x="3017520" y="5852160"/>
            <a:ext cx="2057400" cy="274320"/>
          </a:xfrm>
          <a:prstGeom prst="rect">
            <a:avLst/>
          </a:prstGeom>
          <a:noFill/>
          <a:ln/>
        </p:spPr>
        <p:txBody>
          <a:bodyPr wrap="square" lIns="0" tIns="0" rIns="0" bIns="0" rtlCol="0" anchor="ctr"/>
          <a:lstStyle/>
          <a:p>
            <a:pPr marL="0" indent="0" algn="ctr">
              <a:buNone/>
            </a:pPr>
            <a:r>
              <a:rPr lang="en-US" sz="900" i="1" dirty="0">
                <a:solidFill>
                  <a:srgbClr val="8B8F9C"/>
                </a:solidFill>
                <a:latin typeface="Calibri" pitchFamily="34" charset="0"/>
                <a:ea typeface="Calibri" pitchFamily="34" charset="-122"/>
                <a:cs typeface="Calibri" pitchFamily="34" charset="-120"/>
              </a:rPr>
              <a:t>100 arbres, en ensemble</a:t>
            </a:r>
            <a:endParaRPr lang="en-US" sz="900" dirty="0"/>
          </a:p>
        </p:txBody>
      </p:sp>
      <p:sp>
        <p:nvSpPr>
          <p:cNvPr id="15" name="Shape 13"/>
          <p:cNvSpPr/>
          <p:nvPr/>
        </p:nvSpPr>
        <p:spPr>
          <a:xfrm>
            <a:off x="5257800" y="4937760"/>
            <a:ext cx="2057400" cy="1280160"/>
          </a:xfrm>
          <a:prstGeom prst="rect">
            <a:avLst/>
          </a:prstGeom>
          <a:solidFill>
            <a:srgbClr val="FFFFFF"/>
          </a:solidFill>
          <a:ln w="12700">
            <a:solidFill>
              <a:srgbClr val="E5E2D9"/>
            </a:solidFill>
            <a:prstDash val="solid"/>
          </a:ln>
        </p:spPr>
      </p:sp>
      <p:sp>
        <p:nvSpPr>
          <p:cNvPr id="16" name="Text 14"/>
          <p:cNvSpPr/>
          <p:nvPr/>
        </p:nvSpPr>
        <p:spPr>
          <a:xfrm>
            <a:off x="5257800" y="5029200"/>
            <a:ext cx="2057400" cy="457200"/>
          </a:xfrm>
          <a:prstGeom prst="rect">
            <a:avLst/>
          </a:prstGeom>
          <a:noFill/>
          <a:ln/>
        </p:spPr>
        <p:txBody>
          <a:bodyPr wrap="square" lIns="0" tIns="0" rIns="0" bIns="0" rtlCol="0" anchor="ctr"/>
          <a:lstStyle/>
          <a:p>
            <a:pPr marL="0" indent="0" algn="ctr">
              <a:buNone/>
            </a:pPr>
            <a:r>
              <a:rPr lang="en-US" sz="2800" b="1" dirty="0">
                <a:solidFill>
                  <a:srgbClr val="E1251B"/>
                </a:solidFill>
                <a:latin typeface="Georgia" pitchFamily="34" charset="0"/>
                <a:ea typeface="Georgia" pitchFamily="34" charset="-122"/>
                <a:cs typeface="Georgia" pitchFamily="34" charset="-120"/>
              </a:rPr>
              <a:t>ms</a:t>
            </a:r>
            <a:endParaRPr lang="en-US" sz="2800" dirty="0"/>
          </a:p>
        </p:txBody>
      </p:sp>
      <p:sp>
        <p:nvSpPr>
          <p:cNvPr id="17" name="Text 15"/>
          <p:cNvSpPr/>
          <p:nvPr/>
        </p:nvSpPr>
        <p:spPr>
          <a:xfrm>
            <a:off x="5257800" y="5577840"/>
            <a:ext cx="2057400" cy="274320"/>
          </a:xfrm>
          <a:prstGeom prst="rect">
            <a:avLst/>
          </a:prstGeom>
          <a:noFill/>
          <a:ln/>
        </p:spPr>
        <p:txBody>
          <a:bodyPr wrap="square" lIns="0" tIns="0" rIns="0" bIns="0" rtlCol="0" anchor="ctr"/>
          <a:lstStyle/>
          <a:p>
            <a:pPr marL="0" indent="0" algn="ctr">
              <a:buNone/>
            </a:pPr>
            <a:r>
              <a:rPr lang="en-US" sz="1100" b="1" dirty="0">
                <a:solidFill>
                  <a:srgbClr val="0A0F1E"/>
                </a:solidFill>
                <a:latin typeface="Calibri" pitchFamily="34" charset="0"/>
                <a:ea typeface="Calibri" pitchFamily="34" charset="-122"/>
                <a:cs typeface="Calibri" pitchFamily="34" charset="-120"/>
              </a:rPr>
              <a:t>Scoring d'un CV</a:t>
            </a:r>
            <a:endParaRPr lang="en-US" sz="1100" dirty="0"/>
          </a:p>
        </p:txBody>
      </p:sp>
      <p:sp>
        <p:nvSpPr>
          <p:cNvPr id="18" name="Text 16"/>
          <p:cNvSpPr/>
          <p:nvPr/>
        </p:nvSpPr>
        <p:spPr>
          <a:xfrm>
            <a:off x="5257800" y="5852160"/>
            <a:ext cx="2057400" cy="274320"/>
          </a:xfrm>
          <a:prstGeom prst="rect">
            <a:avLst/>
          </a:prstGeom>
          <a:noFill/>
          <a:ln/>
        </p:spPr>
        <p:txBody>
          <a:bodyPr wrap="square" lIns="0" tIns="0" rIns="0" bIns="0" rtlCol="0" anchor="ctr"/>
          <a:lstStyle/>
          <a:p>
            <a:pPr marL="0" indent="0" algn="ctr">
              <a:buNone/>
            </a:pPr>
            <a:r>
              <a:rPr lang="en-US" sz="900" i="1" dirty="0">
                <a:solidFill>
                  <a:srgbClr val="8B8F9C"/>
                </a:solidFill>
                <a:latin typeface="Calibri" pitchFamily="34" charset="0"/>
                <a:ea typeface="Calibri" pitchFamily="34" charset="-122"/>
                <a:cs typeface="Calibri" pitchFamily="34" charset="-120"/>
              </a:rPr>
              <a:t>en temps réel à l'inférence</a:t>
            </a:r>
            <a:endParaRPr lang="en-US" sz="900" dirty="0"/>
          </a:p>
        </p:txBody>
      </p:sp>
      <p:sp>
        <p:nvSpPr>
          <p:cNvPr id="19" name="Shape 17"/>
          <p:cNvSpPr/>
          <p:nvPr/>
        </p:nvSpPr>
        <p:spPr>
          <a:xfrm>
            <a:off x="7680960" y="2194560"/>
            <a:ext cx="3749040" cy="4023360"/>
          </a:xfrm>
          <a:prstGeom prst="rect">
            <a:avLst/>
          </a:prstGeom>
          <a:solidFill>
            <a:srgbClr val="0A0F1E"/>
          </a:solidFill>
          <a:ln w="12700">
            <a:solidFill>
              <a:srgbClr val="0A0F1E"/>
            </a:solidFill>
            <a:prstDash val="solid"/>
          </a:ln>
        </p:spPr>
      </p:sp>
      <p:sp>
        <p:nvSpPr>
          <p:cNvPr id="20" name="Text 18"/>
          <p:cNvSpPr/>
          <p:nvPr/>
        </p:nvSpPr>
        <p:spPr>
          <a:xfrm>
            <a:off x="7909560" y="2423160"/>
            <a:ext cx="3383280" cy="274320"/>
          </a:xfrm>
          <a:prstGeom prst="rect">
            <a:avLst/>
          </a:prstGeom>
          <a:noFill/>
          <a:ln/>
        </p:spPr>
        <p:txBody>
          <a:bodyPr wrap="square" lIns="0" tIns="0" rIns="0" bIns="0" rtlCol="0" anchor="ctr"/>
          <a:lstStyle/>
          <a:p>
            <a:pPr marL="0" indent="0">
              <a:buNone/>
            </a:pPr>
            <a:r>
              <a:rPr lang="en-US" sz="900" b="1" kern="0" spc="300" dirty="0">
                <a:solidFill>
                  <a:srgbClr val="E8B91A"/>
                </a:solidFill>
                <a:latin typeface="Calibri" pitchFamily="34" charset="0"/>
                <a:ea typeface="Calibri" pitchFamily="34" charset="-122"/>
                <a:cs typeface="Calibri" pitchFamily="34" charset="-120"/>
              </a:rPr>
              <a:t>LA PIPELINE DE FEATURES</a:t>
            </a:r>
            <a:endParaRPr lang="en-US" sz="900" dirty="0"/>
          </a:p>
        </p:txBody>
      </p:sp>
      <p:sp>
        <p:nvSpPr>
          <p:cNvPr id="21" name="Text 19"/>
          <p:cNvSpPr/>
          <p:nvPr/>
        </p:nvSpPr>
        <p:spPr>
          <a:xfrm>
            <a:off x="7909560" y="2788920"/>
            <a:ext cx="3383280" cy="3291840"/>
          </a:xfrm>
          <a:prstGeom prst="rect">
            <a:avLst/>
          </a:prstGeom>
          <a:noFill/>
          <a:ln/>
        </p:spPr>
        <p:txBody>
          <a:bodyPr wrap="square" lIns="0" tIns="0" rIns="0" bIns="0" rtlCol="0" anchor="ctr"/>
          <a:lstStyle/>
          <a:p>
            <a:pPr marL="0" indent="0">
              <a:lnSpc>
                <a:spcPct val="145000"/>
              </a:lnSpc>
              <a:buNone/>
            </a:pPr>
            <a:r>
              <a:rPr lang="en-US" sz="1100" dirty="0">
                <a:solidFill>
                  <a:srgbClr val="F4F1EA"/>
                </a:solidFill>
                <a:latin typeface="Consolas" pitchFamily="34" charset="0"/>
                <a:ea typeface="Consolas" pitchFamily="34" charset="-122"/>
                <a:cs typeface="Consolas" pitchFamily="34" charset="-120"/>
              </a:rPr>
              <a:t>features = VectorAssembler(</a:t>
            </a:r>
            <a:endParaRPr lang="en-US" sz="1100" dirty="0"/>
          </a:p>
          <a:p>
            <a:pPr marL="0" indent="0">
              <a:lnSpc>
                <a:spcPct val="145000"/>
              </a:lnSpc>
              <a:buNone/>
            </a:pPr>
            <a:r>
              <a:rPr lang="en-US" sz="1100" dirty="0">
                <a:solidFill>
                  <a:srgbClr val="F4F1EA"/>
                </a:solidFill>
                <a:latin typeface="Consolas" pitchFamily="34" charset="0"/>
                <a:ea typeface="Consolas" pitchFamily="34" charset="-122"/>
                <a:cs typeface="Consolas" pitchFamily="34" charset="-120"/>
              </a:rPr>
              <a:t>    inputCols=[</a:t>
            </a:r>
            <a:endParaRPr lang="en-US" sz="1100" dirty="0"/>
          </a:p>
          <a:p>
            <a:pPr marL="0" indent="0">
              <a:lnSpc>
                <a:spcPct val="145000"/>
              </a:lnSpc>
              <a:buNone/>
            </a:pPr>
            <a:r>
              <a:rPr lang="en-US" sz="1100" dirty="0">
                <a:solidFill>
                  <a:srgbClr val="F4F1EA"/>
                </a:solidFill>
                <a:latin typeface="Consolas" pitchFamily="34" charset="0"/>
                <a:ea typeface="Consolas" pitchFamily="34" charset="-122"/>
                <a:cs typeface="Consolas" pitchFamily="34" charset="-120"/>
              </a:rPr>
              <a:t>      'skills_count',</a:t>
            </a:r>
            <a:endParaRPr lang="en-US" sz="1100" dirty="0"/>
          </a:p>
          <a:p>
            <a:pPr marL="0" indent="0">
              <a:lnSpc>
                <a:spcPct val="145000"/>
              </a:lnSpc>
              <a:buNone/>
            </a:pPr>
            <a:r>
              <a:rPr lang="en-US" sz="1100" dirty="0">
                <a:solidFill>
                  <a:srgbClr val="F4F1EA"/>
                </a:solidFill>
                <a:latin typeface="Consolas" pitchFamily="34" charset="0"/>
                <a:ea typeface="Consolas" pitchFamily="34" charset="-122"/>
                <a:cs typeface="Consolas" pitchFamily="34" charset="-120"/>
              </a:rPr>
              <a:t>      'years_clean',</a:t>
            </a:r>
            <a:endParaRPr lang="en-US" sz="1100" dirty="0"/>
          </a:p>
          <a:p>
            <a:pPr marL="0" indent="0">
              <a:lnSpc>
                <a:spcPct val="145000"/>
              </a:lnSpc>
              <a:buNone/>
            </a:pPr>
            <a:r>
              <a:rPr lang="en-US" sz="1100" dirty="0">
                <a:solidFill>
                  <a:srgbClr val="F4F1EA"/>
                </a:solidFill>
                <a:latin typeface="Consolas" pitchFamily="34" charset="0"/>
                <a:ea typeface="Consolas" pitchFamily="34" charset="-122"/>
                <a:cs typeface="Consolas" pitchFamily="34" charset="-120"/>
              </a:rPr>
              <a:t>      'has_degree'</a:t>
            </a:r>
            <a:endParaRPr lang="en-US" sz="1100" dirty="0"/>
          </a:p>
          <a:p>
            <a:pPr marL="0" indent="0">
              <a:lnSpc>
                <a:spcPct val="145000"/>
              </a:lnSpc>
              <a:buNone/>
            </a:pPr>
            <a:r>
              <a:rPr lang="en-US" sz="1100" dirty="0">
                <a:solidFill>
                  <a:srgbClr val="F4F1EA"/>
                </a:solidFill>
                <a:latin typeface="Consolas" pitchFamily="34" charset="0"/>
                <a:ea typeface="Consolas" pitchFamily="34" charset="-122"/>
                <a:cs typeface="Consolas" pitchFamily="34" charset="-120"/>
              </a:rPr>
              <a:t>    ]</a:t>
            </a:r>
            <a:endParaRPr lang="en-US" sz="1100" dirty="0"/>
          </a:p>
          <a:p>
            <a:pPr marL="0" indent="0">
              <a:lnSpc>
                <a:spcPct val="145000"/>
              </a:lnSpc>
              <a:buNone/>
            </a:pPr>
            <a:r>
              <a:rPr lang="en-US" sz="1100" dirty="0">
                <a:solidFill>
                  <a:srgbClr val="F4F1EA"/>
                </a:solidFill>
                <a:latin typeface="Consolas" pitchFamily="34" charset="0"/>
                <a:ea typeface="Consolas" pitchFamily="34" charset="-122"/>
                <a:cs typeface="Consolas" pitchFamily="34" charset="-120"/>
              </a:rPr>
              <a:t>)</a:t>
            </a:r>
            <a:endParaRPr lang="en-US" sz="1100" dirty="0"/>
          </a:p>
          <a:p>
            <a:pPr marL="0" indent="0">
              <a:lnSpc>
                <a:spcPct val="145000"/>
              </a:lnSpc>
              <a:buNone/>
            </a:pPr>
            <a:endParaRPr lang="en-US" sz="1100" dirty="0"/>
          </a:p>
          <a:p>
            <a:pPr marL="0" indent="0">
              <a:lnSpc>
                <a:spcPct val="145000"/>
              </a:lnSpc>
              <a:buNone/>
            </a:pPr>
            <a:r>
              <a:rPr lang="en-US" sz="1100" dirty="0">
                <a:solidFill>
                  <a:srgbClr val="F4F1EA"/>
                </a:solidFill>
                <a:latin typeface="Consolas" pitchFamily="34" charset="0"/>
                <a:ea typeface="Consolas" pitchFamily="34" charset="-122"/>
                <a:cs typeface="Consolas" pitchFamily="34" charset="-120"/>
              </a:rPr>
              <a:t>pred = model.transform(df)</a:t>
            </a:r>
            <a:endParaRPr lang="en-US" sz="1100" dirty="0"/>
          </a:p>
          <a:p>
            <a:pPr marL="0" indent="0">
              <a:lnSpc>
                <a:spcPct val="145000"/>
              </a:lnSpc>
              <a:buNone/>
            </a:pPr>
            <a:r>
              <a:rPr lang="en-US" sz="1100" dirty="0">
                <a:solidFill>
                  <a:srgbClr val="F4F1EA"/>
                </a:solidFill>
                <a:latin typeface="Consolas" pitchFamily="34" charset="0"/>
                <a:ea typeface="Consolas" pitchFamily="34" charset="-122"/>
                <a:cs typeface="Consolas" pitchFamily="34" charset="-120"/>
              </a:rPr>
              <a:t>cv_score = max(</a:t>
            </a:r>
            <a:endParaRPr lang="en-US" sz="1100" dirty="0"/>
          </a:p>
          <a:p>
            <a:pPr marL="0" indent="0">
              <a:lnSpc>
                <a:spcPct val="145000"/>
              </a:lnSpc>
              <a:buNone/>
            </a:pPr>
            <a:r>
              <a:rPr lang="en-US" sz="1100" dirty="0">
                <a:solidFill>
                  <a:srgbClr val="F4F1EA"/>
                </a:solidFill>
                <a:latin typeface="Consolas" pitchFamily="34" charset="0"/>
                <a:ea typeface="Consolas" pitchFamily="34" charset="-122"/>
                <a:cs typeface="Consolas" pitchFamily="34" charset="-120"/>
              </a:rPr>
              <a:t>    pred.probability)</a:t>
            </a:r>
            <a:endParaRPr lang="en-US" sz="1100" dirty="0"/>
          </a:p>
        </p:txBody>
      </p:sp>
      <p:sp>
        <p:nvSpPr>
          <p:cNvPr id="22" name="Text 20"/>
          <p:cNvSpPr/>
          <p:nvPr/>
        </p:nvSpPr>
        <p:spPr>
          <a:xfrm>
            <a:off x="457200" y="6400800"/>
            <a:ext cx="5486400" cy="274320"/>
          </a:xfrm>
          <a:prstGeom prst="rect">
            <a:avLst/>
          </a:prstGeom>
          <a:noFill/>
          <a:ln/>
        </p:spPr>
        <p:txBody>
          <a:bodyPr wrap="square" rtlCol="0" anchor="ctr"/>
          <a:lstStyle/>
          <a:p>
            <a:pPr marL="0" indent="0">
              <a:buNone/>
            </a:pPr>
            <a:r>
              <a:rPr lang="en-US" sz="900" b="1" kern="0" spc="400" dirty="0">
                <a:solidFill>
                  <a:srgbClr val="8B8F9C"/>
                </a:solidFill>
                <a:latin typeface="Calibri" pitchFamily="34" charset="0"/>
                <a:ea typeface="Calibri" pitchFamily="34" charset="-122"/>
                <a:cs typeface="Calibri" pitchFamily="34" charset="-120"/>
              </a:rPr>
              <a:t>RESUMIND  ·  6/12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457200" y="457200"/>
            <a:ext cx="164592" cy="457200"/>
          </a:xfrm>
          <a:prstGeom prst="rect">
            <a:avLst/>
          </a:prstGeom>
          <a:solidFill>
            <a:srgbClr val="E1251B"/>
          </a:solidFill>
          <a:ln w="12700">
            <a:solidFill>
              <a:srgbClr val="E1251B"/>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600" dirty="0">
                <a:solidFill>
                  <a:srgbClr val="E1251B"/>
                </a:solidFill>
                <a:latin typeface="Calibri" pitchFamily="34" charset="0"/>
                <a:ea typeface="Calibri" pitchFamily="34" charset="-122"/>
                <a:cs typeface="Calibri" pitchFamily="34" charset="-120"/>
              </a:rPr>
              <a:t>LE TWIST</a:t>
            </a:r>
            <a:endParaRPr lang="en-US" sz="1100" dirty="0"/>
          </a:p>
        </p:txBody>
      </p:sp>
      <p:sp>
        <p:nvSpPr>
          <p:cNvPr id="4" name="Text 2"/>
          <p:cNvSpPr/>
          <p:nvPr/>
        </p:nvSpPr>
        <p:spPr>
          <a:xfrm>
            <a:off x="777240" y="914400"/>
            <a:ext cx="10972800" cy="914400"/>
          </a:xfrm>
          <a:prstGeom prst="rect">
            <a:avLst/>
          </a:prstGeom>
          <a:noFill/>
          <a:ln/>
        </p:spPr>
        <p:txBody>
          <a:bodyPr wrap="square" lIns="0" tIns="0" rIns="0" bIns="0" rtlCol="0" anchor="ctr"/>
          <a:lstStyle/>
          <a:p>
            <a:pPr marL="0" indent="0">
              <a:buNone/>
            </a:pPr>
            <a:r>
              <a:rPr lang="en-US" sz="3600" dirty="0">
                <a:solidFill>
                  <a:srgbClr val="0A0F1E"/>
                </a:solidFill>
                <a:latin typeface="Georgia" pitchFamily="34" charset="0"/>
                <a:ea typeface="Georgia" pitchFamily="34" charset="-122"/>
                <a:cs typeface="Georgia" pitchFamily="34" charset="-120"/>
              </a:rPr>
              <a:t>Quand Spark </a:t>
            </a:r>
            <a:r>
              <a:rPr lang="en-US" sz="3600" i="1" dirty="0">
                <a:solidFill>
                  <a:srgbClr val="E1251B"/>
                </a:solidFill>
                <a:latin typeface="Georgia" pitchFamily="34" charset="0"/>
                <a:ea typeface="Georgia" pitchFamily="34" charset="-122"/>
                <a:cs typeface="Georgia" pitchFamily="34" charset="-120"/>
              </a:rPr>
              <a:t>seul </a:t>
            </a:r>
            <a:r>
              <a:rPr lang="en-US" sz="3600" dirty="0">
                <a:solidFill>
                  <a:srgbClr val="0A0F1E"/>
                </a:solidFill>
                <a:latin typeface="Georgia" pitchFamily="34" charset="0"/>
                <a:ea typeface="Georgia" pitchFamily="34" charset="-122"/>
                <a:cs typeface="Georgia" pitchFamily="34" charset="-120"/>
              </a:rPr>
              <a:t>ne suffit pas.</a:t>
            </a:r>
            <a:endParaRPr lang="en-US" sz="3600" dirty="0"/>
          </a:p>
        </p:txBody>
      </p:sp>
      <p:sp>
        <p:nvSpPr>
          <p:cNvPr id="5" name="Shape 3"/>
          <p:cNvSpPr/>
          <p:nvPr/>
        </p:nvSpPr>
        <p:spPr>
          <a:xfrm>
            <a:off x="777240" y="2194560"/>
            <a:ext cx="5212080" cy="4023360"/>
          </a:xfrm>
          <a:prstGeom prst="rect">
            <a:avLst/>
          </a:prstGeom>
          <a:solidFill>
            <a:srgbClr val="FFFFFF"/>
          </a:solidFill>
          <a:ln w="12700">
            <a:solidFill>
              <a:srgbClr val="E5E2D9"/>
            </a:solidFill>
            <a:prstDash val="solid"/>
          </a:ln>
        </p:spPr>
      </p:sp>
      <p:sp>
        <p:nvSpPr>
          <p:cNvPr id="6" name="Shape 4"/>
          <p:cNvSpPr/>
          <p:nvPr/>
        </p:nvSpPr>
        <p:spPr>
          <a:xfrm>
            <a:off x="777240" y="2194560"/>
            <a:ext cx="91440" cy="4023360"/>
          </a:xfrm>
          <a:prstGeom prst="rect">
            <a:avLst/>
          </a:prstGeom>
          <a:solidFill>
            <a:srgbClr val="E1251B"/>
          </a:solidFill>
          <a:ln w="12700">
            <a:solidFill>
              <a:srgbClr val="E1251B"/>
            </a:solidFill>
            <a:prstDash val="solid"/>
          </a:ln>
        </p:spPr>
      </p:sp>
      <p:sp>
        <p:nvSpPr>
          <p:cNvPr id="7" name="Text 5"/>
          <p:cNvSpPr/>
          <p:nvPr/>
        </p:nvSpPr>
        <p:spPr>
          <a:xfrm>
            <a:off x="1097280" y="2423160"/>
            <a:ext cx="4572000" cy="274320"/>
          </a:xfrm>
          <a:prstGeom prst="rect">
            <a:avLst/>
          </a:prstGeom>
          <a:noFill/>
          <a:ln/>
        </p:spPr>
        <p:txBody>
          <a:bodyPr wrap="square" lIns="0" tIns="0" rIns="0" bIns="0" rtlCol="0" anchor="ctr"/>
          <a:lstStyle/>
          <a:p>
            <a:pPr marL="0" indent="0">
              <a:buNone/>
            </a:pPr>
            <a:r>
              <a:rPr lang="en-US" sz="1000" b="1" kern="0" spc="500" dirty="0">
                <a:solidFill>
                  <a:srgbClr val="E1251B"/>
                </a:solidFill>
                <a:latin typeface="Calibri" pitchFamily="34" charset="0"/>
                <a:ea typeface="Calibri" pitchFamily="34" charset="-122"/>
                <a:cs typeface="Calibri" pitchFamily="34" charset="-120"/>
              </a:rPr>
              <a:t>AVANT</a:t>
            </a:r>
            <a:endParaRPr lang="en-US" sz="1000" dirty="0"/>
          </a:p>
        </p:txBody>
      </p:sp>
      <p:sp>
        <p:nvSpPr>
          <p:cNvPr id="8" name="Text 6"/>
          <p:cNvSpPr/>
          <p:nvPr/>
        </p:nvSpPr>
        <p:spPr>
          <a:xfrm>
            <a:off x="1097280" y="2743200"/>
            <a:ext cx="4572000" cy="457200"/>
          </a:xfrm>
          <a:prstGeom prst="rect">
            <a:avLst/>
          </a:prstGeom>
          <a:noFill/>
          <a:ln/>
        </p:spPr>
        <p:txBody>
          <a:bodyPr wrap="square" lIns="0" tIns="0" rIns="0" bIns="0" rtlCol="0" anchor="ctr"/>
          <a:lstStyle/>
          <a:p>
            <a:pPr marL="0" indent="0">
              <a:buNone/>
            </a:pPr>
            <a:r>
              <a:rPr lang="en-US" sz="2200" b="1" dirty="0">
                <a:solidFill>
                  <a:srgbClr val="0A0F1E"/>
                </a:solidFill>
                <a:latin typeface="Georgia" pitchFamily="34" charset="0"/>
                <a:ea typeface="Georgia" pitchFamily="34" charset="-122"/>
                <a:cs typeface="Georgia" pitchFamily="34" charset="-120"/>
              </a:rPr>
              <a:t>Modèle RF générique</a:t>
            </a:r>
            <a:endParaRPr lang="en-US" sz="2200" dirty="0"/>
          </a:p>
        </p:txBody>
      </p:sp>
      <p:sp>
        <p:nvSpPr>
          <p:cNvPr id="9" name="Text 7"/>
          <p:cNvSpPr/>
          <p:nvPr/>
        </p:nvSpPr>
        <p:spPr>
          <a:xfrm>
            <a:off x="1097280" y="3429000"/>
            <a:ext cx="4572000" cy="274320"/>
          </a:xfrm>
          <a:prstGeom prst="rect">
            <a:avLst/>
          </a:prstGeom>
          <a:noFill/>
          <a:ln/>
        </p:spPr>
        <p:txBody>
          <a:bodyPr wrap="square" lIns="0" tIns="0" rIns="0" bIns="0" rtlCol="0" anchor="ctr"/>
          <a:lstStyle/>
          <a:p>
            <a:pPr marL="0" indent="0">
              <a:buNone/>
            </a:pPr>
            <a:r>
              <a:rPr lang="en-US" sz="1000" b="1" kern="0" spc="300" dirty="0">
                <a:solidFill>
                  <a:srgbClr val="8B8F9C"/>
                </a:solidFill>
                <a:latin typeface="Calibri" pitchFamily="34" charset="0"/>
                <a:ea typeface="Calibri" pitchFamily="34" charset="-122"/>
                <a:cs typeface="Calibri" pitchFamily="34" charset="-120"/>
              </a:rPr>
              <a:t>Cas de test :</a:t>
            </a:r>
            <a:endParaRPr lang="en-US" sz="1000" dirty="0"/>
          </a:p>
        </p:txBody>
      </p:sp>
      <p:sp>
        <p:nvSpPr>
          <p:cNvPr id="10" name="Text 8"/>
          <p:cNvSpPr/>
          <p:nvPr/>
        </p:nvSpPr>
        <p:spPr>
          <a:xfrm>
            <a:off x="1097280" y="3703320"/>
            <a:ext cx="4754880" cy="365760"/>
          </a:xfrm>
          <a:prstGeom prst="rect">
            <a:avLst/>
          </a:prstGeom>
          <a:noFill/>
          <a:ln/>
        </p:spPr>
        <p:txBody>
          <a:bodyPr wrap="square" lIns="0" tIns="0" rIns="0" bIns="0" rtlCol="0" anchor="ctr"/>
          <a:lstStyle/>
          <a:p>
            <a:pPr marL="0" indent="0">
              <a:buNone/>
            </a:pPr>
            <a:r>
              <a:rPr lang="en-US" sz="1400" i="1" dirty="0">
                <a:solidFill>
                  <a:srgbClr val="4A5063"/>
                </a:solidFill>
                <a:latin typeface="Calibri" pitchFamily="34" charset="0"/>
                <a:ea typeface="Calibri" pitchFamily="34" charset="-122"/>
                <a:cs typeface="Calibri" pitchFamily="34" charset="-120"/>
              </a:rPr>
              <a:t>CV d'infirmière vs. offre Senior React Dev</a:t>
            </a:r>
            <a:endParaRPr lang="en-US" sz="1400" dirty="0"/>
          </a:p>
        </p:txBody>
      </p:sp>
      <p:sp>
        <p:nvSpPr>
          <p:cNvPr id="11" name="Text 9"/>
          <p:cNvSpPr/>
          <p:nvPr/>
        </p:nvSpPr>
        <p:spPr>
          <a:xfrm>
            <a:off x="1097280" y="4343400"/>
            <a:ext cx="4572000" cy="274320"/>
          </a:xfrm>
          <a:prstGeom prst="rect">
            <a:avLst/>
          </a:prstGeom>
          <a:noFill/>
          <a:ln/>
        </p:spPr>
        <p:txBody>
          <a:bodyPr wrap="square" lIns="0" tIns="0" rIns="0" bIns="0" rtlCol="0" anchor="ctr"/>
          <a:lstStyle/>
          <a:p>
            <a:pPr marL="0" indent="0">
              <a:buNone/>
            </a:pPr>
            <a:r>
              <a:rPr lang="en-US" sz="1000" b="1" kern="0" spc="300" dirty="0">
                <a:solidFill>
                  <a:srgbClr val="8B8F9C"/>
                </a:solidFill>
                <a:latin typeface="Calibri" pitchFamily="34" charset="0"/>
                <a:ea typeface="Calibri" pitchFamily="34" charset="-122"/>
                <a:cs typeface="Calibri" pitchFamily="34" charset="-120"/>
              </a:rPr>
              <a:t>Résultat :</a:t>
            </a:r>
            <a:endParaRPr lang="en-US" sz="1000" dirty="0"/>
          </a:p>
        </p:txBody>
      </p:sp>
      <p:sp>
        <p:nvSpPr>
          <p:cNvPr id="12" name="Text 10"/>
          <p:cNvSpPr/>
          <p:nvPr/>
        </p:nvSpPr>
        <p:spPr>
          <a:xfrm>
            <a:off x="1097280" y="4617720"/>
            <a:ext cx="4754880" cy="457200"/>
          </a:xfrm>
          <a:prstGeom prst="rect">
            <a:avLst/>
          </a:prstGeom>
          <a:noFill/>
          <a:ln/>
        </p:spPr>
        <p:txBody>
          <a:bodyPr wrap="square" lIns="0" tIns="0" rIns="0" bIns="0" rtlCol="0" anchor="ctr"/>
          <a:lstStyle/>
          <a:p>
            <a:pPr marL="0" indent="0">
              <a:buNone/>
            </a:pPr>
            <a:r>
              <a:rPr lang="en-US" sz="1800" b="1" dirty="0">
                <a:solidFill>
                  <a:srgbClr val="E1251B"/>
                </a:solidFill>
                <a:latin typeface="Georgia" pitchFamily="34" charset="0"/>
                <a:ea typeface="Georgia" pitchFamily="34" charset="-122"/>
                <a:cs typeface="Georgia" pitchFamily="34" charset="-120"/>
              </a:rPr>
              <a:t>PRÉSÉLECTIONNÉE — 94 %</a:t>
            </a:r>
            <a:endParaRPr lang="en-US" sz="1800" dirty="0"/>
          </a:p>
        </p:txBody>
      </p:sp>
      <p:sp>
        <p:nvSpPr>
          <p:cNvPr id="13" name="Text 11"/>
          <p:cNvSpPr/>
          <p:nvPr/>
        </p:nvSpPr>
        <p:spPr>
          <a:xfrm>
            <a:off x="1097280" y="5166360"/>
            <a:ext cx="4754880" cy="365760"/>
          </a:xfrm>
          <a:prstGeom prst="rect">
            <a:avLst/>
          </a:prstGeom>
          <a:noFill/>
          <a:ln/>
        </p:spPr>
        <p:txBody>
          <a:bodyPr wrap="square" lIns="0" tIns="0" rIns="0" bIns="0" rtlCol="0" anchor="ctr"/>
          <a:lstStyle/>
          <a:p>
            <a:pPr marL="0" indent="0">
              <a:buNone/>
            </a:pPr>
            <a:r>
              <a:rPr lang="en-US" sz="1200" i="1" dirty="0">
                <a:solidFill>
                  <a:srgbClr val="4A5063"/>
                </a:solidFill>
                <a:latin typeface="Calibri" pitchFamily="34" charset="0"/>
                <a:ea typeface="Calibri" pitchFamily="34" charset="-122"/>
                <a:cs typeface="Calibri" pitchFamily="34" charset="-120"/>
              </a:rPr>
              <a:t>(Le modèle ignore quel est le poste.)</a:t>
            </a:r>
            <a:endParaRPr lang="en-US" sz="1200" dirty="0"/>
          </a:p>
        </p:txBody>
      </p:sp>
      <p:sp>
        <p:nvSpPr>
          <p:cNvPr id="14" name="Shape 12"/>
          <p:cNvSpPr/>
          <p:nvPr/>
        </p:nvSpPr>
        <p:spPr>
          <a:xfrm>
            <a:off x="6263640" y="2194560"/>
            <a:ext cx="5212080" cy="4023360"/>
          </a:xfrm>
          <a:prstGeom prst="rect">
            <a:avLst/>
          </a:prstGeom>
          <a:solidFill>
            <a:srgbClr val="FFFFFF"/>
          </a:solidFill>
          <a:ln w="12700">
            <a:solidFill>
              <a:srgbClr val="E5E2D9"/>
            </a:solidFill>
            <a:prstDash val="solid"/>
          </a:ln>
        </p:spPr>
      </p:sp>
      <p:sp>
        <p:nvSpPr>
          <p:cNvPr id="15" name="Shape 13"/>
          <p:cNvSpPr/>
          <p:nvPr/>
        </p:nvSpPr>
        <p:spPr>
          <a:xfrm>
            <a:off x="6263640" y="2194560"/>
            <a:ext cx="91440" cy="4023360"/>
          </a:xfrm>
          <a:prstGeom prst="rect">
            <a:avLst/>
          </a:prstGeom>
          <a:solidFill>
            <a:srgbClr val="E8B91A"/>
          </a:solidFill>
          <a:ln w="12700">
            <a:solidFill>
              <a:srgbClr val="E8B91A"/>
            </a:solidFill>
            <a:prstDash val="solid"/>
          </a:ln>
        </p:spPr>
      </p:sp>
      <p:sp>
        <p:nvSpPr>
          <p:cNvPr id="16" name="Text 14"/>
          <p:cNvSpPr/>
          <p:nvPr/>
        </p:nvSpPr>
        <p:spPr>
          <a:xfrm>
            <a:off x="6583680" y="2423160"/>
            <a:ext cx="4572000" cy="274320"/>
          </a:xfrm>
          <a:prstGeom prst="rect">
            <a:avLst/>
          </a:prstGeom>
          <a:noFill/>
          <a:ln/>
        </p:spPr>
        <p:txBody>
          <a:bodyPr wrap="square" lIns="0" tIns="0" rIns="0" bIns="0" rtlCol="0" anchor="ctr"/>
          <a:lstStyle/>
          <a:p>
            <a:pPr marL="0" indent="0">
              <a:buNone/>
            </a:pPr>
            <a:r>
              <a:rPr lang="en-US" sz="1000" b="1" kern="0" spc="500" dirty="0">
                <a:solidFill>
                  <a:srgbClr val="A8190F"/>
                </a:solidFill>
                <a:latin typeface="Calibri" pitchFamily="34" charset="0"/>
                <a:ea typeface="Calibri" pitchFamily="34" charset="-122"/>
                <a:cs typeface="Calibri" pitchFamily="34" charset="-120"/>
              </a:rPr>
              <a:t>APRÈS</a:t>
            </a:r>
            <a:endParaRPr lang="en-US" sz="1000" dirty="0"/>
          </a:p>
        </p:txBody>
      </p:sp>
      <p:sp>
        <p:nvSpPr>
          <p:cNvPr id="17" name="Text 15"/>
          <p:cNvSpPr/>
          <p:nvPr/>
        </p:nvSpPr>
        <p:spPr>
          <a:xfrm>
            <a:off x="6583680" y="2743200"/>
            <a:ext cx="4572000" cy="457200"/>
          </a:xfrm>
          <a:prstGeom prst="rect">
            <a:avLst/>
          </a:prstGeom>
          <a:noFill/>
          <a:ln/>
        </p:spPr>
        <p:txBody>
          <a:bodyPr wrap="square" lIns="0" tIns="0" rIns="0" bIns="0" rtlCol="0" anchor="ctr"/>
          <a:lstStyle/>
          <a:p>
            <a:pPr marL="0" indent="0">
              <a:buNone/>
            </a:pPr>
            <a:r>
              <a:rPr lang="en-US" sz="2200" b="1" dirty="0">
                <a:solidFill>
                  <a:srgbClr val="0A0F1E"/>
                </a:solidFill>
                <a:latin typeface="Georgia" pitchFamily="34" charset="0"/>
                <a:ea typeface="Georgia" pitchFamily="34" charset="-122"/>
                <a:cs typeface="Georgia" pitchFamily="34" charset="-120"/>
              </a:rPr>
              <a:t>+ Embeddings de phrases</a:t>
            </a:r>
            <a:endParaRPr lang="en-US" sz="2200" dirty="0"/>
          </a:p>
        </p:txBody>
      </p:sp>
      <p:sp>
        <p:nvSpPr>
          <p:cNvPr id="18" name="Text 16"/>
          <p:cNvSpPr/>
          <p:nvPr/>
        </p:nvSpPr>
        <p:spPr>
          <a:xfrm>
            <a:off x="6583680" y="3429000"/>
            <a:ext cx="4572000" cy="274320"/>
          </a:xfrm>
          <a:prstGeom prst="rect">
            <a:avLst/>
          </a:prstGeom>
          <a:noFill/>
          <a:ln/>
        </p:spPr>
        <p:txBody>
          <a:bodyPr wrap="square" lIns="0" tIns="0" rIns="0" bIns="0" rtlCol="0" anchor="ctr"/>
          <a:lstStyle/>
          <a:p>
            <a:pPr marL="0" indent="0">
              <a:buNone/>
            </a:pPr>
            <a:r>
              <a:rPr lang="en-US" sz="1000" b="1" kern="0" spc="300" dirty="0">
                <a:solidFill>
                  <a:srgbClr val="8B8F9C"/>
                </a:solidFill>
                <a:latin typeface="Calibri" pitchFamily="34" charset="0"/>
                <a:ea typeface="Calibri" pitchFamily="34" charset="-122"/>
                <a:cs typeface="Calibri" pitchFamily="34" charset="-120"/>
              </a:rPr>
              <a:t>Comment ça marche :</a:t>
            </a:r>
            <a:endParaRPr lang="en-US" sz="1000" dirty="0"/>
          </a:p>
        </p:txBody>
      </p:sp>
      <p:sp>
        <p:nvSpPr>
          <p:cNvPr id="19" name="Text 17"/>
          <p:cNvSpPr/>
          <p:nvPr/>
        </p:nvSpPr>
        <p:spPr>
          <a:xfrm>
            <a:off x="6583680" y="3703320"/>
            <a:ext cx="4754880" cy="1280160"/>
          </a:xfrm>
          <a:prstGeom prst="rect">
            <a:avLst/>
          </a:prstGeom>
          <a:noFill/>
          <a:ln/>
        </p:spPr>
        <p:txBody>
          <a:bodyPr wrap="square" lIns="0" tIns="0" rIns="0" bIns="0" rtlCol="0" anchor="ctr"/>
          <a:lstStyle/>
          <a:p>
            <a:pPr marL="0" indent="0">
              <a:lnSpc>
                <a:spcPct val="140000"/>
              </a:lnSpc>
              <a:buNone/>
            </a:pPr>
            <a:r>
              <a:rPr lang="en-US" sz="1200" dirty="0">
                <a:solidFill>
                  <a:srgbClr val="4A5063"/>
                </a:solidFill>
                <a:latin typeface="Calibri" pitchFamily="34" charset="0"/>
                <a:ea typeface="Calibri" pitchFamily="34" charset="-122"/>
                <a:cs typeface="Calibri" pitchFamily="34" charset="-120"/>
              </a:rPr>
              <a:t>MiniLM-L6-v2 transforme la fiche de poste ET le profil du candidat en vecteurs de 384 dimensions. La similarité cosinus donne un score d'adéquation entre 0 et 1.</a:t>
            </a:r>
            <a:endParaRPr lang="en-US" sz="1200" dirty="0"/>
          </a:p>
        </p:txBody>
      </p:sp>
      <p:sp>
        <p:nvSpPr>
          <p:cNvPr id="20" name="Text 18"/>
          <p:cNvSpPr/>
          <p:nvPr/>
        </p:nvSpPr>
        <p:spPr>
          <a:xfrm>
            <a:off x="6583680" y="5029200"/>
            <a:ext cx="4572000" cy="274320"/>
          </a:xfrm>
          <a:prstGeom prst="rect">
            <a:avLst/>
          </a:prstGeom>
          <a:noFill/>
          <a:ln/>
        </p:spPr>
        <p:txBody>
          <a:bodyPr wrap="square" lIns="0" tIns="0" rIns="0" bIns="0" rtlCol="0" anchor="ctr"/>
          <a:lstStyle/>
          <a:p>
            <a:pPr marL="0" indent="0">
              <a:buNone/>
            </a:pPr>
            <a:r>
              <a:rPr lang="en-US" sz="1000" b="1" kern="0" spc="300" dirty="0">
                <a:solidFill>
                  <a:srgbClr val="8B8F9C"/>
                </a:solidFill>
                <a:latin typeface="Calibri" pitchFamily="34" charset="0"/>
                <a:ea typeface="Calibri" pitchFamily="34" charset="-122"/>
                <a:cs typeface="Calibri" pitchFamily="34" charset="-120"/>
              </a:rPr>
              <a:t>Même cas de test :</a:t>
            </a:r>
            <a:endParaRPr lang="en-US" sz="1000" dirty="0"/>
          </a:p>
        </p:txBody>
      </p:sp>
      <p:sp>
        <p:nvSpPr>
          <p:cNvPr id="21" name="Text 19"/>
          <p:cNvSpPr/>
          <p:nvPr/>
        </p:nvSpPr>
        <p:spPr>
          <a:xfrm>
            <a:off x="6583680" y="5303520"/>
            <a:ext cx="4754880" cy="457200"/>
          </a:xfrm>
          <a:prstGeom prst="rect">
            <a:avLst/>
          </a:prstGeom>
          <a:noFill/>
          <a:ln/>
        </p:spPr>
        <p:txBody>
          <a:bodyPr wrap="square" lIns="0" tIns="0" rIns="0" bIns="0" rtlCol="0" anchor="ctr"/>
          <a:lstStyle/>
          <a:p>
            <a:pPr marL="0" indent="0">
              <a:buNone/>
            </a:pPr>
            <a:r>
              <a:rPr lang="en-US" sz="1800" b="1" dirty="0">
                <a:solidFill>
                  <a:srgbClr val="0A0F1E"/>
                </a:solidFill>
                <a:latin typeface="Georgia" pitchFamily="34" charset="0"/>
                <a:ea typeface="Georgia" pitchFamily="34" charset="-122"/>
                <a:cs typeface="Georgia" pitchFamily="34" charset="-120"/>
              </a:rPr>
              <a:t>NON RETENU — 0,36 de match</a:t>
            </a:r>
            <a:endParaRPr lang="en-US" sz="1800" dirty="0"/>
          </a:p>
        </p:txBody>
      </p:sp>
      <p:sp>
        <p:nvSpPr>
          <p:cNvPr id="22" name="Text 20"/>
          <p:cNvSpPr/>
          <p:nvPr/>
        </p:nvSpPr>
        <p:spPr>
          <a:xfrm>
            <a:off x="6583680" y="5806440"/>
            <a:ext cx="4754880" cy="365760"/>
          </a:xfrm>
          <a:prstGeom prst="rect">
            <a:avLst/>
          </a:prstGeom>
          <a:noFill/>
          <a:ln/>
        </p:spPr>
        <p:txBody>
          <a:bodyPr wrap="square" lIns="0" tIns="0" rIns="0" bIns="0" rtlCol="0" anchor="ctr"/>
          <a:lstStyle/>
          <a:p>
            <a:pPr marL="0" indent="0">
              <a:buNone/>
            </a:pPr>
            <a:r>
              <a:rPr lang="en-US" sz="1200" i="1" dirty="0">
                <a:solidFill>
                  <a:srgbClr val="4A5063"/>
                </a:solidFill>
                <a:latin typeface="Calibri" pitchFamily="34" charset="0"/>
                <a:ea typeface="Calibri" pitchFamily="34" charset="-122"/>
                <a:cs typeface="Calibri" pitchFamily="34" charset="-120"/>
              </a:rPr>
              <a:t>(Les embeddings savent qu'elle ne fait pas de React.)</a:t>
            </a:r>
            <a:endParaRPr lang="en-US" sz="1200" dirty="0"/>
          </a:p>
        </p:txBody>
      </p:sp>
      <p:sp>
        <p:nvSpPr>
          <p:cNvPr id="23" name="Text 21"/>
          <p:cNvSpPr/>
          <p:nvPr/>
        </p:nvSpPr>
        <p:spPr>
          <a:xfrm>
            <a:off x="457200" y="6400800"/>
            <a:ext cx="5486400" cy="274320"/>
          </a:xfrm>
          <a:prstGeom prst="rect">
            <a:avLst/>
          </a:prstGeom>
          <a:noFill/>
          <a:ln/>
        </p:spPr>
        <p:txBody>
          <a:bodyPr wrap="square" rtlCol="0" anchor="ctr"/>
          <a:lstStyle/>
          <a:p>
            <a:pPr marL="0" indent="0">
              <a:buNone/>
            </a:pPr>
            <a:r>
              <a:rPr lang="en-US" sz="900" b="1" kern="0" spc="400" dirty="0">
                <a:solidFill>
                  <a:srgbClr val="8B8F9C"/>
                </a:solidFill>
                <a:latin typeface="Calibri" pitchFamily="34" charset="0"/>
                <a:ea typeface="Calibri" pitchFamily="34" charset="-122"/>
                <a:cs typeface="Calibri" pitchFamily="34" charset="-120"/>
              </a:rPr>
              <a:t>RESUMIND  ·  7/12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457200" y="457200"/>
            <a:ext cx="164592" cy="457200"/>
          </a:xfrm>
          <a:prstGeom prst="rect">
            <a:avLst/>
          </a:prstGeom>
          <a:solidFill>
            <a:srgbClr val="E1251B"/>
          </a:solidFill>
          <a:ln w="12700">
            <a:solidFill>
              <a:srgbClr val="E1251B"/>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600" dirty="0">
                <a:solidFill>
                  <a:srgbClr val="E1251B"/>
                </a:solidFill>
                <a:latin typeface="Calibri" pitchFamily="34" charset="0"/>
                <a:ea typeface="Calibri" pitchFamily="34" charset="-122"/>
                <a:cs typeface="Calibri" pitchFamily="34" charset="-120"/>
              </a:rPr>
              <a:t>LE MÉLANGE</a:t>
            </a:r>
            <a:endParaRPr lang="en-US" sz="1100" dirty="0"/>
          </a:p>
        </p:txBody>
      </p:sp>
      <p:sp>
        <p:nvSpPr>
          <p:cNvPr id="4" name="Text 2"/>
          <p:cNvSpPr/>
          <p:nvPr/>
        </p:nvSpPr>
        <p:spPr>
          <a:xfrm>
            <a:off x="777240" y="914400"/>
            <a:ext cx="10972800" cy="914400"/>
          </a:xfrm>
          <a:prstGeom prst="rect">
            <a:avLst/>
          </a:prstGeom>
          <a:noFill/>
          <a:ln/>
        </p:spPr>
        <p:txBody>
          <a:bodyPr wrap="square" lIns="0" tIns="0" rIns="0" bIns="0" rtlCol="0" anchor="ctr"/>
          <a:lstStyle/>
          <a:p>
            <a:pPr marL="0" indent="0">
              <a:buNone/>
            </a:pPr>
            <a:r>
              <a:rPr lang="en-US" sz="3600" dirty="0">
                <a:solidFill>
                  <a:srgbClr val="0A0F1E"/>
                </a:solidFill>
                <a:latin typeface="Georgia" pitchFamily="34" charset="0"/>
                <a:ea typeface="Georgia" pitchFamily="34" charset="-122"/>
                <a:cs typeface="Georgia" pitchFamily="34" charset="-120"/>
              </a:rPr>
              <a:t>Un seul score pour </a:t>
            </a:r>
            <a:r>
              <a:rPr lang="en-US" sz="3600" i="1" dirty="0">
                <a:solidFill>
                  <a:srgbClr val="E1251B"/>
                </a:solidFill>
                <a:latin typeface="Georgia" pitchFamily="34" charset="0"/>
                <a:ea typeface="Georgia" pitchFamily="34" charset="-122"/>
                <a:cs typeface="Georgia" pitchFamily="34" charset="-120"/>
              </a:rPr>
              <a:t>tout </a:t>
            </a:r>
            <a:r>
              <a:rPr lang="en-US" sz="3600" dirty="0">
                <a:solidFill>
                  <a:srgbClr val="0A0F1E"/>
                </a:solidFill>
                <a:latin typeface="Georgia" pitchFamily="34" charset="0"/>
                <a:ea typeface="Georgia" pitchFamily="34" charset="-122"/>
                <a:cs typeface="Georgia" pitchFamily="34" charset="-120"/>
              </a:rPr>
              <a:t>décider.</a:t>
            </a:r>
            <a:endParaRPr lang="en-US" sz="3600" dirty="0"/>
          </a:p>
        </p:txBody>
      </p:sp>
      <p:sp>
        <p:nvSpPr>
          <p:cNvPr id="5" name="Shape 3"/>
          <p:cNvSpPr/>
          <p:nvPr/>
        </p:nvSpPr>
        <p:spPr>
          <a:xfrm>
            <a:off x="777240" y="2286000"/>
            <a:ext cx="10607040" cy="1371600"/>
          </a:xfrm>
          <a:prstGeom prst="rect">
            <a:avLst/>
          </a:prstGeom>
          <a:solidFill>
            <a:srgbClr val="0A0F1E"/>
          </a:solidFill>
          <a:ln w="12700">
            <a:solidFill>
              <a:srgbClr val="0A0F1E"/>
            </a:solidFill>
            <a:prstDash val="solid"/>
          </a:ln>
        </p:spPr>
      </p:sp>
      <p:sp>
        <p:nvSpPr>
          <p:cNvPr id="6" name="Text 4"/>
          <p:cNvSpPr/>
          <p:nvPr/>
        </p:nvSpPr>
        <p:spPr>
          <a:xfrm>
            <a:off x="777240" y="2286000"/>
            <a:ext cx="10607040" cy="1371600"/>
          </a:xfrm>
          <a:prstGeom prst="rect">
            <a:avLst/>
          </a:prstGeom>
          <a:noFill/>
          <a:ln/>
        </p:spPr>
        <p:txBody>
          <a:bodyPr wrap="square" lIns="0" tIns="0" rIns="0" bIns="0" rtlCol="0" anchor="ctr"/>
          <a:lstStyle/>
          <a:p>
            <a:pPr marL="0" indent="0" algn="ctr">
              <a:buNone/>
            </a:pPr>
            <a:r>
              <a:rPr lang="en-US" sz="3200" dirty="0">
                <a:solidFill>
                  <a:srgbClr val="F4F1EA"/>
                </a:solidFill>
                <a:latin typeface="Consolas" pitchFamily="34" charset="0"/>
                <a:ea typeface="Consolas" pitchFamily="34" charset="-122"/>
                <a:cs typeface="Consolas" pitchFamily="34" charset="-120"/>
              </a:rPr>
              <a:t>final = </a:t>
            </a:r>
            <a:r>
              <a:rPr lang="en-US" sz="3200" b="1" dirty="0">
                <a:solidFill>
                  <a:srgbClr val="E8B91A"/>
                </a:solidFill>
                <a:latin typeface="Consolas" pitchFamily="34" charset="0"/>
                <a:ea typeface="Consolas" pitchFamily="34" charset="-122"/>
                <a:cs typeface="Consolas" pitchFamily="34" charset="-120"/>
              </a:rPr>
              <a:t>0,2</a:t>
            </a:r>
            <a:r>
              <a:rPr lang="en-US" sz="3200" dirty="0">
                <a:solidFill>
                  <a:srgbClr val="F4F1EA"/>
                </a:solidFill>
                <a:latin typeface="Consolas" pitchFamily="34" charset="0"/>
                <a:ea typeface="Consolas" pitchFamily="34" charset="-122"/>
                <a:cs typeface="Consolas" pitchFamily="34" charset="-120"/>
              </a:rPr>
              <a:t> × score_cv  +  </a:t>
            </a:r>
            <a:r>
              <a:rPr lang="en-US" sz="3200" b="1" dirty="0">
                <a:solidFill>
                  <a:srgbClr val="E8B91A"/>
                </a:solidFill>
                <a:latin typeface="Consolas" pitchFamily="34" charset="0"/>
                <a:ea typeface="Consolas" pitchFamily="34" charset="-122"/>
                <a:cs typeface="Consolas" pitchFamily="34" charset="-120"/>
              </a:rPr>
              <a:t>0,8</a:t>
            </a:r>
            <a:r>
              <a:rPr lang="en-US" sz="3200" dirty="0">
                <a:solidFill>
                  <a:srgbClr val="F4F1EA"/>
                </a:solidFill>
                <a:latin typeface="Consolas" pitchFamily="34" charset="0"/>
                <a:ea typeface="Consolas" pitchFamily="34" charset="-122"/>
                <a:cs typeface="Consolas" pitchFamily="34" charset="-120"/>
              </a:rPr>
              <a:t> × adéquation_poste</a:t>
            </a:r>
            <a:endParaRPr lang="en-US" sz="3200" dirty="0"/>
          </a:p>
        </p:txBody>
      </p:sp>
      <p:sp>
        <p:nvSpPr>
          <p:cNvPr id="7" name="Text 5"/>
          <p:cNvSpPr/>
          <p:nvPr/>
        </p:nvSpPr>
        <p:spPr>
          <a:xfrm>
            <a:off x="777240" y="3840480"/>
            <a:ext cx="10607040" cy="640080"/>
          </a:xfrm>
          <a:prstGeom prst="rect">
            <a:avLst/>
          </a:prstGeom>
          <a:noFill/>
          <a:ln/>
        </p:spPr>
        <p:txBody>
          <a:bodyPr wrap="square" lIns="0" tIns="0" rIns="0" bIns="0" rtlCol="0" anchor="ctr"/>
          <a:lstStyle/>
          <a:p>
            <a:pPr marL="0" indent="0" algn="ctr">
              <a:lnSpc>
                <a:spcPct val="140000"/>
              </a:lnSpc>
              <a:buNone/>
            </a:pPr>
            <a:r>
              <a:rPr lang="en-US" sz="1300" i="1" dirty="0">
                <a:solidFill>
                  <a:srgbClr val="4A5063"/>
                </a:solidFill>
                <a:latin typeface="Calibri" pitchFamily="34" charset="0"/>
                <a:ea typeface="Calibri" pitchFamily="34" charset="-122"/>
                <a:cs typeface="Calibri" pitchFamily="34" charset="-120"/>
              </a:rPr>
              <a:t>L'adéquation au poste pèse plus lourd, parce que c'est ce qui compte vraiment pour le recruteur. Les seuils et les pondérations sont </a:t>
            </a:r>
            <a:r>
              <a:rPr lang="en-US" sz="1300" b="1" i="1" dirty="0">
                <a:solidFill>
                  <a:srgbClr val="E1251B"/>
                </a:solidFill>
                <a:latin typeface="Calibri" pitchFamily="34" charset="0"/>
                <a:ea typeface="Calibri" pitchFamily="34" charset="-122"/>
                <a:cs typeface="Calibri" pitchFamily="34" charset="-120"/>
              </a:rPr>
              <a:t>ajustables</a:t>
            </a:r>
            <a:r>
              <a:rPr lang="en-US" sz="1300" i="1" dirty="0">
                <a:solidFill>
                  <a:srgbClr val="4A5063"/>
                </a:solidFill>
                <a:latin typeface="Calibri" pitchFamily="34" charset="0"/>
                <a:ea typeface="Calibri" pitchFamily="34" charset="-122"/>
                <a:cs typeface="Calibri" pitchFamily="34" charset="-120"/>
              </a:rPr>
              <a:t> — chaque recruteur peut calibrer le système selon ses propres critères.</a:t>
            </a:r>
            <a:endParaRPr lang="en-US" sz="1300" dirty="0"/>
          </a:p>
        </p:txBody>
      </p:sp>
      <p:sp>
        <p:nvSpPr>
          <p:cNvPr id="8" name="Shape 6"/>
          <p:cNvSpPr/>
          <p:nvPr/>
        </p:nvSpPr>
        <p:spPr>
          <a:xfrm>
            <a:off x="777240" y="4800600"/>
            <a:ext cx="3474720" cy="1417320"/>
          </a:xfrm>
          <a:prstGeom prst="rect">
            <a:avLst/>
          </a:prstGeom>
          <a:solidFill>
            <a:srgbClr val="FFFFFF"/>
          </a:solidFill>
          <a:ln w="25400">
            <a:solidFill>
              <a:srgbClr val="E8B91A"/>
            </a:solidFill>
            <a:prstDash val="solid"/>
          </a:ln>
        </p:spPr>
      </p:sp>
      <p:sp>
        <p:nvSpPr>
          <p:cNvPr id="9" name="Text 7"/>
          <p:cNvSpPr/>
          <p:nvPr/>
        </p:nvSpPr>
        <p:spPr>
          <a:xfrm>
            <a:off x="777240" y="4965192"/>
            <a:ext cx="3474720" cy="320040"/>
          </a:xfrm>
          <a:prstGeom prst="rect">
            <a:avLst/>
          </a:prstGeom>
          <a:noFill/>
          <a:ln/>
        </p:spPr>
        <p:txBody>
          <a:bodyPr wrap="square" lIns="0" tIns="0" rIns="0" bIns="0" rtlCol="0" anchor="ctr"/>
          <a:lstStyle/>
          <a:p>
            <a:pPr marL="0" indent="0" algn="ctr">
              <a:buNone/>
            </a:pPr>
            <a:r>
              <a:rPr lang="en-US" sz="1100" b="1" kern="0" spc="400" dirty="0">
                <a:solidFill>
                  <a:srgbClr val="E8B91A"/>
                </a:solidFill>
                <a:latin typeface="Calibri" pitchFamily="34" charset="0"/>
                <a:ea typeface="Calibri" pitchFamily="34" charset="-122"/>
                <a:cs typeface="Calibri" pitchFamily="34" charset="-120"/>
              </a:rPr>
              <a:t>PRÉSÉLECTIONNÉ</a:t>
            </a:r>
            <a:endParaRPr lang="en-US" sz="1100" dirty="0"/>
          </a:p>
        </p:txBody>
      </p:sp>
      <p:sp>
        <p:nvSpPr>
          <p:cNvPr id="10" name="Text 8"/>
          <p:cNvSpPr/>
          <p:nvPr/>
        </p:nvSpPr>
        <p:spPr>
          <a:xfrm>
            <a:off x="777240" y="5303520"/>
            <a:ext cx="3474720" cy="365760"/>
          </a:xfrm>
          <a:prstGeom prst="rect">
            <a:avLst/>
          </a:prstGeom>
          <a:noFill/>
          <a:ln/>
        </p:spPr>
        <p:txBody>
          <a:bodyPr wrap="square" lIns="0" tIns="0" rIns="0" bIns="0" rtlCol="0" anchor="ctr"/>
          <a:lstStyle/>
          <a:p>
            <a:pPr marL="0" indent="0" algn="ctr">
              <a:buNone/>
            </a:pPr>
            <a:r>
              <a:rPr lang="en-US" sz="2200" b="1" dirty="0">
                <a:solidFill>
                  <a:srgbClr val="0A0F1E"/>
                </a:solidFill>
                <a:latin typeface="Georgia" pitchFamily="34" charset="0"/>
                <a:ea typeface="Georgia" pitchFamily="34" charset="-122"/>
                <a:cs typeface="Georgia" pitchFamily="34" charset="-120"/>
              </a:rPr>
              <a:t>≥ 0,65</a:t>
            </a:r>
            <a:endParaRPr lang="en-US" sz="2200" dirty="0"/>
          </a:p>
        </p:txBody>
      </p:sp>
      <p:sp>
        <p:nvSpPr>
          <p:cNvPr id="11" name="Text 9"/>
          <p:cNvSpPr/>
          <p:nvPr/>
        </p:nvSpPr>
        <p:spPr>
          <a:xfrm>
            <a:off x="960120" y="5760720"/>
            <a:ext cx="3108960" cy="457200"/>
          </a:xfrm>
          <a:prstGeom prst="rect">
            <a:avLst/>
          </a:prstGeom>
          <a:noFill/>
          <a:ln/>
        </p:spPr>
        <p:txBody>
          <a:bodyPr wrap="square" lIns="0" tIns="0" rIns="0" bIns="0" rtlCol="0" anchor="ctr"/>
          <a:lstStyle/>
          <a:p>
            <a:pPr marL="0" indent="0" algn="ctr">
              <a:lnSpc>
                <a:spcPct val="120000"/>
              </a:lnSpc>
              <a:buNone/>
            </a:pPr>
            <a:r>
              <a:rPr lang="en-US" sz="1000" i="1" dirty="0">
                <a:solidFill>
                  <a:srgbClr val="4A5063"/>
                </a:solidFill>
                <a:latin typeface="Calibri" pitchFamily="34" charset="0"/>
                <a:ea typeface="Calibri" pitchFamily="34" charset="-122"/>
                <a:cs typeface="Calibri" pitchFamily="34" charset="-120"/>
              </a:rPr>
              <a:t>Probablement un vrai match. À examiner de près.</a:t>
            </a:r>
            <a:endParaRPr lang="en-US" sz="1000" dirty="0"/>
          </a:p>
        </p:txBody>
      </p:sp>
      <p:sp>
        <p:nvSpPr>
          <p:cNvPr id="12" name="Shape 10"/>
          <p:cNvSpPr/>
          <p:nvPr/>
        </p:nvSpPr>
        <p:spPr>
          <a:xfrm>
            <a:off x="4480560" y="4800600"/>
            <a:ext cx="3474720" cy="1417320"/>
          </a:xfrm>
          <a:prstGeom prst="rect">
            <a:avLst/>
          </a:prstGeom>
          <a:solidFill>
            <a:srgbClr val="FFFFFF"/>
          </a:solidFill>
          <a:ln w="25400">
            <a:solidFill>
              <a:srgbClr val="E1251B"/>
            </a:solidFill>
            <a:prstDash val="solid"/>
          </a:ln>
        </p:spPr>
      </p:sp>
      <p:sp>
        <p:nvSpPr>
          <p:cNvPr id="13" name="Text 11"/>
          <p:cNvSpPr/>
          <p:nvPr/>
        </p:nvSpPr>
        <p:spPr>
          <a:xfrm>
            <a:off x="4480560" y="4965192"/>
            <a:ext cx="3474720" cy="320040"/>
          </a:xfrm>
          <a:prstGeom prst="rect">
            <a:avLst/>
          </a:prstGeom>
          <a:noFill/>
          <a:ln/>
        </p:spPr>
        <p:txBody>
          <a:bodyPr wrap="square" lIns="0" tIns="0" rIns="0" bIns="0" rtlCol="0" anchor="ctr"/>
          <a:lstStyle/>
          <a:p>
            <a:pPr marL="0" indent="0" algn="ctr">
              <a:buNone/>
            </a:pPr>
            <a:r>
              <a:rPr lang="en-US" sz="1100" b="1" kern="0" spc="400" dirty="0">
                <a:solidFill>
                  <a:srgbClr val="E1251B"/>
                </a:solidFill>
                <a:latin typeface="Calibri" pitchFamily="34" charset="0"/>
                <a:ea typeface="Calibri" pitchFamily="34" charset="-122"/>
                <a:cs typeface="Calibri" pitchFamily="34" charset="-120"/>
              </a:rPr>
              <a:t>À RÉVISER</a:t>
            </a:r>
            <a:endParaRPr lang="en-US" sz="1100" dirty="0"/>
          </a:p>
        </p:txBody>
      </p:sp>
      <p:sp>
        <p:nvSpPr>
          <p:cNvPr id="14" name="Text 12"/>
          <p:cNvSpPr/>
          <p:nvPr/>
        </p:nvSpPr>
        <p:spPr>
          <a:xfrm>
            <a:off x="4480560" y="5303520"/>
            <a:ext cx="3474720" cy="365760"/>
          </a:xfrm>
          <a:prstGeom prst="rect">
            <a:avLst/>
          </a:prstGeom>
          <a:noFill/>
          <a:ln/>
        </p:spPr>
        <p:txBody>
          <a:bodyPr wrap="square" lIns="0" tIns="0" rIns="0" bIns="0" rtlCol="0" anchor="ctr"/>
          <a:lstStyle/>
          <a:p>
            <a:pPr marL="0" indent="0" algn="ctr">
              <a:buNone/>
            </a:pPr>
            <a:r>
              <a:rPr lang="en-US" sz="2200" b="1" dirty="0">
                <a:solidFill>
                  <a:srgbClr val="0A0F1E"/>
                </a:solidFill>
                <a:latin typeface="Georgia" pitchFamily="34" charset="0"/>
                <a:ea typeface="Georgia" pitchFamily="34" charset="-122"/>
                <a:cs typeface="Georgia" pitchFamily="34" charset="-120"/>
              </a:rPr>
              <a:t>0,49 – 0,65</a:t>
            </a:r>
            <a:endParaRPr lang="en-US" sz="2200" dirty="0"/>
          </a:p>
        </p:txBody>
      </p:sp>
      <p:sp>
        <p:nvSpPr>
          <p:cNvPr id="15" name="Text 13"/>
          <p:cNvSpPr/>
          <p:nvPr/>
        </p:nvSpPr>
        <p:spPr>
          <a:xfrm>
            <a:off x="4663440" y="5760720"/>
            <a:ext cx="3108960" cy="457200"/>
          </a:xfrm>
          <a:prstGeom prst="rect">
            <a:avLst/>
          </a:prstGeom>
          <a:noFill/>
          <a:ln/>
        </p:spPr>
        <p:txBody>
          <a:bodyPr wrap="square" lIns="0" tIns="0" rIns="0" bIns="0" rtlCol="0" anchor="ctr"/>
          <a:lstStyle/>
          <a:p>
            <a:pPr marL="0" indent="0" algn="ctr">
              <a:lnSpc>
                <a:spcPct val="120000"/>
              </a:lnSpc>
              <a:buNone/>
            </a:pPr>
            <a:r>
              <a:rPr lang="en-US" sz="1000" i="1" dirty="0">
                <a:solidFill>
                  <a:srgbClr val="4A5063"/>
                </a:solidFill>
                <a:latin typeface="Calibri" pitchFamily="34" charset="0"/>
                <a:ea typeface="Calibri" pitchFamily="34" charset="-122"/>
                <a:cs typeface="Calibri" pitchFamily="34" charset="-120"/>
              </a:rPr>
              <a:t>Cas limite. L'humain doit trancher.</a:t>
            </a:r>
            <a:endParaRPr lang="en-US" sz="1000" dirty="0"/>
          </a:p>
        </p:txBody>
      </p:sp>
      <p:sp>
        <p:nvSpPr>
          <p:cNvPr id="16" name="Shape 14"/>
          <p:cNvSpPr/>
          <p:nvPr/>
        </p:nvSpPr>
        <p:spPr>
          <a:xfrm>
            <a:off x="8183880" y="4800600"/>
            <a:ext cx="3474720" cy="1417320"/>
          </a:xfrm>
          <a:prstGeom prst="rect">
            <a:avLst/>
          </a:prstGeom>
          <a:solidFill>
            <a:srgbClr val="FFFFFF"/>
          </a:solidFill>
          <a:ln w="25400">
            <a:solidFill>
              <a:srgbClr val="4A5063"/>
            </a:solidFill>
            <a:prstDash val="solid"/>
          </a:ln>
        </p:spPr>
      </p:sp>
      <p:sp>
        <p:nvSpPr>
          <p:cNvPr id="17" name="Text 15"/>
          <p:cNvSpPr/>
          <p:nvPr/>
        </p:nvSpPr>
        <p:spPr>
          <a:xfrm>
            <a:off x="8183880" y="4965192"/>
            <a:ext cx="3474720" cy="320040"/>
          </a:xfrm>
          <a:prstGeom prst="rect">
            <a:avLst/>
          </a:prstGeom>
          <a:noFill/>
          <a:ln/>
        </p:spPr>
        <p:txBody>
          <a:bodyPr wrap="square" lIns="0" tIns="0" rIns="0" bIns="0" rtlCol="0" anchor="ctr"/>
          <a:lstStyle/>
          <a:p>
            <a:pPr marL="0" indent="0" algn="ctr">
              <a:buNone/>
            </a:pPr>
            <a:r>
              <a:rPr lang="en-US" sz="1100" b="1" kern="0" spc="400" dirty="0">
                <a:solidFill>
                  <a:srgbClr val="4A5063"/>
                </a:solidFill>
                <a:latin typeface="Calibri" pitchFamily="34" charset="0"/>
                <a:ea typeface="Calibri" pitchFamily="34" charset="-122"/>
                <a:cs typeface="Calibri" pitchFamily="34" charset="-120"/>
              </a:rPr>
              <a:t>NON RETENU</a:t>
            </a:r>
            <a:endParaRPr lang="en-US" sz="1100" dirty="0"/>
          </a:p>
        </p:txBody>
      </p:sp>
      <p:sp>
        <p:nvSpPr>
          <p:cNvPr id="18" name="Text 16"/>
          <p:cNvSpPr/>
          <p:nvPr/>
        </p:nvSpPr>
        <p:spPr>
          <a:xfrm>
            <a:off x="8183880" y="5303520"/>
            <a:ext cx="3474720" cy="365760"/>
          </a:xfrm>
          <a:prstGeom prst="rect">
            <a:avLst/>
          </a:prstGeom>
          <a:noFill/>
          <a:ln/>
        </p:spPr>
        <p:txBody>
          <a:bodyPr wrap="square" lIns="0" tIns="0" rIns="0" bIns="0" rtlCol="0" anchor="ctr"/>
          <a:lstStyle/>
          <a:p>
            <a:pPr marL="0" indent="0" algn="ctr">
              <a:buNone/>
            </a:pPr>
            <a:r>
              <a:rPr lang="en-US" sz="2200" b="1" dirty="0">
                <a:solidFill>
                  <a:srgbClr val="0A0F1E"/>
                </a:solidFill>
                <a:latin typeface="Georgia" pitchFamily="34" charset="0"/>
                <a:ea typeface="Georgia" pitchFamily="34" charset="-122"/>
                <a:cs typeface="Georgia" pitchFamily="34" charset="-120"/>
              </a:rPr>
              <a:t>&lt; 0,49</a:t>
            </a:r>
            <a:endParaRPr lang="en-US" sz="2200" dirty="0"/>
          </a:p>
        </p:txBody>
      </p:sp>
      <p:sp>
        <p:nvSpPr>
          <p:cNvPr id="19" name="Text 17"/>
          <p:cNvSpPr/>
          <p:nvPr/>
        </p:nvSpPr>
        <p:spPr>
          <a:xfrm>
            <a:off x="8366760" y="5760720"/>
            <a:ext cx="3108960" cy="457200"/>
          </a:xfrm>
          <a:prstGeom prst="rect">
            <a:avLst/>
          </a:prstGeom>
          <a:noFill/>
          <a:ln/>
        </p:spPr>
        <p:txBody>
          <a:bodyPr wrap="square" lIns="0" tIns="0" rIns="0" bIns="0" rtlCol="0" anchor="ctr"/>
          <a:lstStyle/>
          <a:p>
            <a:pPr marL="0" indent="0" algn="ctr">
              <a:lnSpc>
                <a:spcPct val="120000"/>
              </a:lnSpc>
              <a:buNone/>
            </a:pPr>
            <a:r>
              <a:rPr lang="en-US" sz="1000" i="1" dirty="0">
                <a:solidFill>
                  <a:srgbClr val="4A5063"/>
                </a:solidFill>
                <a:latin typeface="Calibri" pitchFamily="34" charset="0"/>
                <a:ea typeface="Calibri" pitchFamily="34" charset="-122"/>
                <a:cs typeface="Calibri" pitchFamily="34" charset="-120"/>
              </a:rPr>
              <a:t>Sans doute pas la bonne personne pour CE poste.</a:t>
            </a:r>
            <a:endParaRPr lang="en-US" sz="1000" dirty="0"/>
          </a:p>
        </p:txBody>
      </p:sp>
      <p:sp>
        <p:nvSpPr>
          <p:cNvPr id="20" name="Text 18"/>
          <p:cNvSpPr/>
          <p:nvPr/>
        </p:nvSpPr>
        <p:spPr>
          <a:xfrm>
            <a:off x="457200" y="6400800"/>
            <a:ext cx="5486400" cy="274320"/>
          </a:xfrm>
          <a:prstGeom prst="rect">
            <a:avLst/>
          </a:prstGeom>
          <a:noFill/>
          <a:ln/>
        </p:spPr>
        <p:txBody>
          <a:bodyPr wrap="square" rtlCol="0" anchor="ctr"/>
          <a:lstStyle/>
          <a:p>
            <a:pPr marL="0" indent="0">
              <a:buNone/>
            </a:pPr>
            <a:r>
              <a:rPr lang="en-US" sz="900" b="1" kern="0" spc="400" dirty="0">
                <a:solidFill>
                  <a:srgbClr val="8B8F9C"/>
                </a:solidFill>
                <a:latin typeface="Calibri" pitchFamily="34" charset="0"/>
                <a:ea typeface="Calibri" pitchFamily="34" charset="-122"/>
                <a:cs typeface="Calibri" pitchFamily="34" charset="-120"/>
              </a:rPr>
              <a:t>RESUMIND  ·  8/12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457200" y="457200"/>
            <a:ext cx="164592" cy="457200"/>
          </a:xfrm>
          <a:prstGeom prst="rect">
            <a:avLst/>
          </a:prstGeom>
          <a:solidFill>
            <a:srgbClr val="E1251B"/>
          </a:solidFill>
          <a:ln w="12700">
            <a:solidFill>
              <a:srgbClr val="E1251B"/>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600" dirty="0">
                <a:solidFill>
                  <a:srgbClr val="E1251B"/>
                </a:solidFill>
                <a:latin typeface="Calibri" pitchFamily="34" charset="0"/>
                <a:ea typeface="Calibri" pitchFamily="34" charset="-122"/>
                <a:cs typeface="Calibri" pitchFamily="34" charset="-120"/>
              </a:rPr>
              <a:t>LA STACK</a:t>
            </a:r>
            <a:endParaRPr lang="en-US" sz="1100" dirty="0"/>
          </a:p>
        </p:txBody>
      </p:sp>
      <p:sp>
        <p:nvSpPr>
          <p:cNvPr id="4" name="Text 2"/>
          <p:cNvSpPr/>
          <p:nvPr/>
        </p:nvSpPr>
        <p:spPr>
          <a:xfrm>
            <a:off x="777240" y="914400"/>
            <a:ext cx="10972800" cy="914400"/>
          </a:xfrm>
          <a:prstGeom prst="rect">
            <a:avLst/>
          </a:prstGeom>
          <a:noFill/>
          <a:ln/>
        </p:spPr>
        <p:txBody>
          <a:bodyPr wrap="square" lIns="0" tIns="0" rIns="0" bIns="0" rtlCol="0" anchor="ctr"/>
          <a:lstStyle/>
          <a:p>
            <a:pPr marL="0" indent="0">
              <a:buNone/>
            </a:pPr>
            <a:r>
              <a:rPr lang="en-US" sz="3600" dirty="0">
                <a:solidFill>
                  <a:srgbClr val="0A0F1E"/>
                </a:solidFill>
                <a:latin typeface="Georgia" pitchFamily="34" charset="0"/>
                <a:ea typeface="Georgia" pitchFamily="34" charset="-122"/>
                <a:cs typeface="Georgia" pitchFamily="34" charset="-120"/>
              </a:rPr>
              <a:t>Ce qu'il y a </a:t>
            </a:r>
            <a:r>
              <a:rPr lang="en-US" sz="3600" i="1" dirty="0">
                <a:solidFill>
                  <a:srgbClr val="E1251B"/>
                </a:solidFill>
                <a:latin typeface="Georgia" pitchFamily="34" charset="0"/>
                <a:ea typeface="Georgia" pitchFamily="34" charset="-122"/>
                <a:cs typeface="Georgia" pitchFamily="34" charset="-120"/>
              </a:rPr>
              <a:t>sous </a:t>
            </a:r>
            <a:r>
              <a:rPr lang="en-US" sz="3600" dirty="0">
                <a:solidFill>
                  <a:srgbClr val="0A0F1E"/>
                </a:solidFill>
                <a:latin typeface="Georgia" pitchFamily="34" charset="0"/>
                <a:ea typeface="Georgia" pitchFamily="34" charset="-122"/>
                <a:cs typeface="Georgia" pitchFamily="34" charset="-120"/>
              </a:rPr>
              <a:t>le capot.</a:t>
            </a:r>
            <a:endParaRPr lang="en-US" sz="3600" dirty="0"/>
          </a:p>
        </p:txBody>
      </p:sp>
      <p:sp>
        <p:nvSpPr>
          <p:cNvPr id="5" name="Shape 3"/>
          <p:cNvSpPr/>
          <p:nvPr/>
        </p:nvSpPr>
        <p:spPr>
          <a:xfrm>
            <a:off x="777240" y="2194560"/>
            <a:ext cx="2606040" cy="960120"/>
          </a:xfrm>
          <a:prstGeom prst="rect">
            <a:avLst/>
          </a:prstGeom>
          <a:solidFill>
            <a:srgbClr val="FFFFFF"/>
          </a:solidFill>
          <a:ln w="12700">
            <a:solidFill>
              <a:srgbClr val="E5E2D9"/>
            </a:solidFill>
            <a:prstDash val="solid"/>
          </a:ln>
        </p:spPr>
      </p:sp>
      <p:sp>
        <p:nvSpPr>
          <p:cNvPr id="6" name="Shape 4"/>
          <p:cNvSpPr/>
          <p:nvPr/>
        </p:nvSpPr>
        <p:spPr>
          <a:xfrm>
            <a:off x="777240" y="2194560"/>
            <a:ext cx="54864" cy="960120"/>
          </a:xfrm>
          <a:prstGeom prst="rect">
            <a:avLst/>
          </a:prstGeom>
          <a:solidFill>
            <a:srgbClr val="E1251B"/>
          </a:solidFill>
          <a:ln w="12700">
            <a:solidFill>
              <a:srgbClr val="E1251B"/>
            </a:solidFill>
            <a:prstDash val="solid"/>
          </a:ln>
        </p:spPr>
      </p:sp>
      <p:sp>
        <p:nvSpPr>
          <p:cNvPr id="7" name="Text 5"/>
          <p:cNvSpPr/>
          <p:nvPr/>
        </p:nvSpPr>
        <p:spPr>
          <a:xfrm>
            <a:off x="960120" y="2359152"/>
            <a:ext cx="2331720" cy="365760"/>
          </a:xfrm>
          <a:prstGeom prst="rect">
            <a:avLst/>
          </a:prstGeom>
          <a:noFill/>
          <a:ln/>
        </p:spPr>
        <p:txBody>
          <a:bodyPr wrap="square" lIns="0" tIns="0" rIns="0" bIns="0" rtlCol="0" anchor="ctr"/>
          <a:lstStyle/>
          <a:p>
            <a:pPr marL="0" indent="0">
              <a:buNone/>
            </a:pPr>
            <a:r>
              <a:rPr lang="en-US" sz="1400" b="1" dirty="0">
                <a:solidFill>
                  <a:srgbClr val="0A0F1E"/>
                </a:solidFill>
                <a:latin typeface="Georgia" pitchFamily="34" charset="0"/>
                <a:ea typeface="Georgia" pitchFamily="34" charset="-122"/>
                <a:cs typeface="Georgia" pitchFamily="34" charset="-120"/>
              </a:rPr>
              <a:t>React</a:t>
            </a:r>
            <a:endParaRPr lang="en-US" sz="1400" dirty="0"/>
          </a:p>
        </p:txBody>
      </p:sp>
      <p:sp>
        <p:nvSpPr>
          <p:cNvPr id="8" name="Text 6"/>
          <p:cNvSpPr/>
          <p:nvPr/>
        </p:nvSpPr>
        <p:spPr>
          <a:xfrm>
            <a:off x="960120" y="2743200"/>
            <a:ext cx="2331720" cy="365760"/>
          </a:xfrm>
          <a:prstGeom prst="rect">
            <a:avLst/>
          </a:prstGeom>
          <a:noFill/>
          <a:ln/>
        </p:spPr>
        <p:txBody>
          <a:bodyPr wrap="square" lIns="0" tIns="0" rIns="0" bIns="0" rtlCol="0" anchor="ctr"/>
          <a:lstStyle/>
          <a:p>
            <a:pPr marL="0" indent="0">
              <a:buNone/>
            </a:pPr>
            <a:r>
              <a:rPr lang="en-US" sz="1100" i="1" dirty="0">
                <a:solidFill>
                  <a:srgbClr val="4A5063"/>
                </a:solidFill>
                <a:latin typeface="Calibri" pitchFamily="34" charset="0"/>
                <a:ea typeface="Calibri" pitchFamily="34" charset="-122"/>
                <a:cs typeface="Calibri" pitchFamily="34" charset="-120"/>
              </a:rPr>
              <a:t>Interface du recruteur</a:t>
            </a:r>
            <a:endParaRPr lang="en-US" sz="1100" dirty="0"/>
          </a:p>
        </p:txBody>
      </p:sp>
      <p:sp>
        <p:nvSpPr>
          <p:cNvPr id="9" name="Shape 7"/>
          <p:cNvSpPr/>
          <p:nvPr/>
        </p:nvSpPr>
        <p:spPr>
          <a:xfrm>
            <a:off x="3547872" y="2194560"/>
            <a:ext cx="2606040" cy="960120"/>
          </a:xfrm>
          <a:prstGeom prst="rect">
            <a:avLst/>
          </a:prstGeom>
          <a:solidFill>
            <a:srgbClr val="FFFFFF"/>
          </a:solidFill>
          <a:ln w="12700">
            <a:solidFill>
              <a:srgbClr val="E5E2D9"/>
            </a:solidFill>
            <a:prstDash val="solid"/>
          </a:ln>
        </p:spPr>
      </p:sp>
      <p:sp>
        <p:nvSpPr>
          <p:cNvPr id="10" name="Shape 8"/>
          <p:cNvSpPr/>
          <p:nvPr/>
        </p:nvSpPr>
        <p:spPr>
          <a:xfrm>
            <a:off x="3547872" y="2194560"/>
            <a:ext cx="54864" cy="960120"/>
          </a:xfrm>
          <a:prstGeom prst="rect">
            <a:avLst/>
          </a:prstGeom>
          <a:solidFill>
            <a:srgbClr val="E1251B"/>
          </a:solidFill>
          <a:ln w="12700">
            <a:solidFill>
              <a:srgbClr val="E1251B"/>
            </a:solidFill>
            <a:prstDash val="solid"/>
          </a:ln>
        </p:spPr>
      </p:sp>
      <p:sp>
        <p:nvSpPr>
          <p:cNvPr id="11" name="Text 9"/>
          <p:cNvSpPr/>
          <p:nvPr/>
        </p:nvSpPr>
        <p:spPr>
          <a:xfrm>
            <a:off x="3730752" y="2359152"/>
            <a:ext cx="2331720" cy="365760"/>
          </a:xfrm>
          <a:prstGeom prst="rect">
            <a:avLst/>
          </a:prstGeom>
          <a:noFill/>
          <a:ln/>
        </p:spPr>
        <p:txBody>
          <a:bodyPr wrap="square" lIns="0" tIns="0" rIns="0" bIns="0" rtlCol="0" anchor="ctr"/>
          <a:lstStyle/>
          <a:p>
            <a:pPr marL="0" indent="0">
              <a:buNone/>
            </a:pPr>
            <a:r>
              <a:rPr lang="en-US" sz="1400" b="1" dirty="0">
                <a:solidFill>
                  <a:srgbClr val="0A0F1E"/>
                </a:solidFill>
                <a:latin typeface="Georgia" pitchFamily="34" charset="0"/>
                <a:ea typeface="Georgia" pitchFamily="34" charset="-122"/>
                <a:cs typeface="Georgia" pitchFamily="34" charset="-120"/>
              </a:rPr>
              <a:t>Node.js + Express</a:t>
            </a:r>
            <a:endParaRPr lang="en-US" sz="1400" dirty="0"/>
          </a:p>
        </p:txBody>
      </p:sp>
      <p:sp>
        <p:nvSpPr>
          <p:cNvPr id="12" name="Text 10"/>
          <p:cNvSpPr/>
          <p:nvPr/>
        </p:nvSpPr>
        <p:spPr>
          <a:xfrm>
            <a:off x="3730752" y="2743200"/>
            <a:ext cx="2331720" cy="365760"/>
          </a:xfrm>
          <a:prstGeom prst="rect">
            <a:avLst/>
          </a:prstGeom>
          <a:noFill/>
          <a:ln/>
        </p:spPr>
        <p:txBody>
          <a:bodyPr wrap="square" lIns="0" tIns="0" rIns="0" bIns="0" rtlCol="0" anchor="ctr"/>
          <a:lstStyle/>
          <a:p>
            <a:pPr marL="0" indent="0">
              <a:buNone/>
            </a:pPr>
            <a:r>
              <a:rPr lang="en-US" sz="1100" i="1" dirty="0">
                <a:solidFill>
                  <a:srgbClr val="4A5063"/>
                </a:solidFill>
                <a:latin typeface="Calibri" pitchFamily="34" charset="0"/>
                <a:ea typeface="Calibri" pitchFamily="34" charset="-122"/>
                <a:cs typeface="Calibri" pitchFamily="34" charset="-120"/>
              </a:rPr>
              <a:t>Backend du site</a:t>
            </a:r>
            <a:endParaRPr lang="en-US" sz="1100" dirty="0"/>
          </a:p>
        </p:txBody>
      </p:sp>
      <p:sp>
        <p:nvSpPr>
          <p:cNvPr id="13" name="Shape 11"/>
          <p:cNvSpPr/>
          <p:nvPr/>
        </p:nvSpPr>
        <p:spPr>
          <a:xfrm>
            <a:off x="6318504" y="2194560"/>
            <a:ext cx="2606040" cy="960120"/>
          </a:xfrm>
          <a:prstGeom prst="rect">
            <a:avLst/>
          </a:prstGeom>
          <a:solidFill>
            <a:srgbClr val="FFFFFF"/>
          </a:solidFill>
          <a:ln w="12700">
            <a:solidFill>
              <a:srgbClr val="E5E2D9"/>
            </a:solidFill>
            <a:prstDash val="solid"/>
          </a:ln>
        </p:spPr>
      </p:sp>
      <p:sp>
        <p:nvSpPr>
          <p:cNvPr id="14" name="Shape 12"/>
          <p:cNvSpPr/>
          <p:nvPr/>
        </p:nvSpPr>
        <p:spPr>
          <a:xfrm>
            <a:off x="6318504" y="2194560"/>
            <a:ext cx="54864" cy="960120"/>
          </a:xfrm>
          <a:prstGeom prst="rect">
            <a:avLst/>
          </a:prstGeom>
          <a:solidFill>
            <a:srgbClr val="E1251B"/>
          </a:solidFill>
          <a:ln w="12700">
            <a:solidFill>
              <a:srgbClr val="E1251B"/>
            </a:solidFill>
            <a:prstDash val="solid"/>
          </a:ln>
        </p:spPr>
      </p:sp>
      <p:sp>
        <p:nvSpPr>
          <p:cNvPr id="15" name="Text 13"/>
          <p:cNvSpPr/>
          <p:nvPr/>
        </p:nvSpPr>
        <p:spPr>
          <a:xfrm>
            <a:off x="6501384" y="2359152"/>
            <a:ext cx="2331720" cy="365760"/>
          </a:xfrm>
          <a:prstGeom prst="rect">
            <a:avLst/>
          </a:prstGeom>
          <a:noFill/>
          <a:ln/>
        </p:spPr>
        <p:txBody>
          <a:bodyPr wrap="square" lIns="0" tIns="0" rIns="0" bIns="0" rtlCol="0" anchor="ctr"/>
          <a:lstStyle/>
          <a:p>
            <a:pPr marL="0" indent="0">
              <a:buNone/>
            </a:pPr>
            <a:r>
              <a:rPr lang="en-US" sz="1400" b="1" dirty="0">
                <a:solidFill>
                  <a:srgbClr val="0A0F1E"/>
                </a:solidFill>
                <a:latin typeface="Georgia" pitchFamily="34" charset="0"/>
                <a:ea typeface="Georgia" pitchFamily="34" charset="-122"/>
                <a:cs typeface="Georgia" pitchFamily="34" charset="-120"/>
              </a:rPr>
              <a:t>Prisma 7</a:t>
            </a:r>
            <a:endParaRPr lang="en-US" sz="1400" dirty="0"/>
          </a:p>
        </p:txBody>
      </p:sp>
      <p:sp>
        <p:nvSpPr>
          <p:cNvPr id="16" name="Text 14"/>
          <p:cNvSpPr/>
          <p:nvPr/>
        </p:nvSpPr>
        <p:spPr>
          <a:xfrm>
            <a:off x="6501384" y="2743200"/>
            <a:ext cx="2331720" cy="365760"/>
          </a:xfrm>
          <a:prstGeom prst="rect">
            <a:avLst/>
          </a:prstGeom>
          <a:noFill/>
          <a:ln/>
        </p:spPr>
        <p:txBody>
          <a:bodyPr wrap="square" lIns="0" tIns="0" rIns="0" bIns="0" rtlCol="0" anchor="ctr"/>
          <a:lstStyle/>
          <a:p>
            <a:pPr marL="0" indent="0">
              <a:buNone/>
            </a:pPr>
            <a:r>
              <a:rPr lang="en-US" sz="1100" i="1" dirty="0">
                <a:solidFill>
                  <a:srgbClr val="4A5063"/>
                </a:solidFill>
                <a:latin typeface="Calibri" pitchFamily="34" charset="0"/>
                <a:ea typeface="Calibri" pitchFamily="34" charset="-122"/>
                <a:cs typeface="Calibri" pitchFamily="34" charset="-120"/>
              </a:rPr>
              <a:t>ORM base de données</a:t>
            </a:r>
            <a:endParaRPr lang="en-US" sz="1100" dirty="0"/>
          </a:p>
        </p:txBody>
      </p:sp>
      <p:sp>
        <p:nvSpPr>
          <p:cNvPr id="17" name="Shape 15"/>
          <p:cNvSpPr/>
          <p:nvPr/>
        </p:nvSpPr>
        <p:spPr>
          <a:xfrm>
            <a:off x="9089136" y="2194560"/>
            <a:ext cx="2606040" cy="960120"/>
          </a:xfrm>
          <a:prstGeom prst="rect">
            <a:avLst/>
          </a:prstGeom>
          <a:solidFill>
            <a:srgbClr val="FFFFFF"/>
          </a:solidFill>
          <a:ln w="12700">
            <a:solidFill>
              <a:srgbClr val="E5E2D9"/>
            </a:solidFill>
            <a:prstDash val="solid"/>
          </a:ln>
        </p:spPr>
      </p:sp>
      <p:sp>
        <p:nvSpPr>
          <p:cNvPr id="18" name="Shape 16"/>
          <p:cNvSpPr/>
          <p:nvPr/>
        </p:nvSpPr>
        <p:spPr>
          <a:xfrm>
            <a:off x="9089136" y="2194560"/>
            <a:ext cx="54864" cy="960120"/>
          </a:xfrm>
          <a:prstGeom prst="rect">
            <a:avLst/>
          </a:prstGeom>
          <a:solidFill>
            <a:srgbClr val="E1251B"/>
          </a:solidFill>
          <a:ln w="12700">
            <a:solidFill>
              <a:srgbClr val="E1251B"/>
            </a:solidFill>
            <a:prstDash val="solid"/>
          </a:ln>
        </p:spPr>
      </p:sp>
      <p:sp>
        <p:nvSpPr>
          <p:cNvPr id="19" name="Text 17"/>
          <p:cNvSpPr/>
          <p:nvPr/>
        </p:nvSpPr>
        <p:spPr>
          <a:xfrm>
            <a:off x="9272016" y="2359152"/>
            <a:ext cx="2331720" cy="365760"/>
          </a:xfrm>
          <a:prstGeom prst="rect">
            <a:avLst/>
          </a:prstGeom>
          <a:noFill/>
          <a:ln/>
        </p:spPr>
        <p:txBody>
          <a:bodyPr wrap="square" lIns="0" tIns="0" rIns="0" bIns="0" rtlCol="0" anchor="ctr"/>
          <a:lstStyle/>
          <a:p>
            <a:pPr marL="0" indent="0">
              <a:buNone/>
            </a:pPr>
            <a:r>
              <a:rPr lang="en-US" sz="1400" b="1" dirty="0">
                <a:solidFill>
                  <a:srgbClr val="0A0F1E"/>
                </a:solidFill>
                <a:latin typeface="Georgia" pitchFamily="34" charset="0"/>
                <a:ea typeface="Georgia" pitchFamily="34" charset="-122"/>
                <a:cs typeface="Georgia" pitchFamily="34" charset="-120"/>
              </a:rPr>
              <a:t>PostgreSQL</a:t>
            </a:r>
            <a:endParaRPr lang="en-US" sz="1400" dirty="0"/>
          </a:p>
        </p:txBody>
      </p:sp>
      <p:sp>
        <p:nvSpPr>
          <p:cNvPr id="20" name="Text 18"/>
          <p:cNvSpPr/>
          <p:nvPr/>
        </p:nvSpPr>
        <p:spPr>
          <a:xfrm>
            <a:off x="9272016" y="2743200"/>
            <a:ext cx="2331720" cy="365760"/>
          </a:xfrm>
          <a:prstGeom prst="rect">
            <a:avLst/>
          </a:prstGeom>
          <a:noFill/>
          <a:ln/>
        </p:spPr>
        <p:txBody>
          <a:bodyPr wrap="square" lIns="0" tIns="0" rIns="0" bIns="0" rtlCol="0" anchor="ctr"/>
          <a:lstStyle/>
          <a:p>
            <a:pPr marL="0" indent="0">
              <a:buNone/>
            </a:pPr>
            <a:r>
              <a:rPr lang="en-US" sz="1100" i="1" dirty="0">
                <a:solidFill>
                  <a:srgbClr val="4A5063"/>
                </a:solidFill>
                <a:latin typeface="Calibri" pitchFamily="34" charset="0"/>
                <a:ea typeface="Calibri" pitchFamily="34" charset="-122"/>
                <a:cs typeface="Calibri" pitchFamily="34" charset="-120"/>
              </a:rPr>
              <a:t>Stockage (Supabase)</a:t>
            </a:r>
            <a:endParaRPr lang="en-US" sz="1100" dirty="0"/>
          </a:p>
        </p:txBody>
      </p:sp>
      <p:sp>
        <p:nvSpPr>
          <p:cNvPr id="21" name="Shape 19"/>
          <p:cNvSpPr/>
          <p:nvPr/>
        </p:nvSpPr>
        <p:spPr>
          <a:xfrm>
            <a:off x="777240" y="3319272"/>
            <a:ext cx="2606040" cy="960120"/>
          </a:xfrm>
          <a:prstGeom prst="rect">
            <a:avLst/>
          </a:prstGeom>
          <a:solidFill>
            <a:srgbClr val="FFFFFF"/>
          </a:solidFill>
          <a:ln w="12700">
            <a:solidFill>
              <a:srgbClr val="E5E2D9"/>
            </a:solidFill>
            <a:prstDash val="solid"/>
          </a:ln>
        </p:spPr>
      </p:sp>
      <p:sp>
        <p:nvSpPr>
          <p:cNvPr id="22" name="Shape 20"/>
          <p:cNvSpPr/>
          <p:nvPr/>
        </p:nvSpPr>
        <p:spPr>
          <a:xfrm>
            <a:off x="777240" y="3319272"/>
            <a:ext cx="54864" cy="960120"/>
          </a:xfrm>
          <a:prstGeom prst="rect">
            <a:avLst/>
          </a:prstGeom>
          <a:solidFill>
            <a:srgbClr val="E1251B"/>
          </a:solidFill>
          <a:ln w="12700">
            <a:solidFill>
              <a:srgbClr val="E1251B"/>
            </a:solidFill>
            <a:prstDash val="solid"/>
          </a:ln>
        </p:spPr>
      </p:sp>
      <p:sp>
        <p:nvSpPr>
          <p:cNvPr id="23" name="Text 21"/>
          <p:cNvSpPr/>
          <p:nvPr/>
        </p:nvSpPr>
        <p:spPr>
          <a:xfrm>
            <a:off x="960120" y="3483864"/>
            <a:ext cx="2331720" cy="365760"/>
          </a:xfrm>
          <a:prstGeom prst="rect">
            <a:avLst/>
          </a:prstGeom>
          <a:noFill/>
          <a:ln/>
        </p:spPr>
        <p:txBody>
          <a:bodyPr wrap="square" lIns="0" tIns="0" rIns="0" bIns="0" rtlCol="0" anchor="ctr"/>
          <a:lstStyle/>
          <a:p>
            <a:pPr marL="0" indent="0">
              <a:buNone/>
            </a:pPr>
            <a:r>
              <a:rPr lang="en-US" sz="1400" b="1" dirty="0">
                <a:solidFill>
                  <a:srgbClr val="0A0F1E"/>
                </a:solidFill>
                <a:latin typeface="Georgia" pitchFamily="34" charset="0"/>
                <a:ea typeface="Georgia" pitchFamily="34" charset="-122"/>
                <a:cs typeface="Georgia" pitchFamily="34" charset="-120"/>
              </a:rPr>
              <a:t>Apache Kafka</a:t>
            </a:r>
            <a:endParaRPr lang="en-US" sz="1400" dirty="0"/>
          </a:p>
        </p:txBody>
      </p:sp>
      <p:sp>
        <p:nvSpPr>
          <p:cNvPr id="24" name="Text 22"/>
          <p:cNvSpPr/>
          <p:nvPr/>
        </p:nvSpPr>
        <p:spPr>
          <a:xfrm>
            <a:off x="960120" y="3867912"/>
            <a:ext cx="2331720" cy="365760"/>
          </a:xfrm>
          <a:prstGeom prst="rect">
            <a:avLst/>
          </a:prstGeom>
          <a:noFill/>
          <a:ln/>
        </p:spPr>
        <p:txBody>
          <a:bodyPr wrap="square" lIns="0" tIns="0" rIns="0" bIns="0" rtlCol="0" anchor="ctr"/>
          <a:lstStyle/>
          <a:p>
            <a:pPr marL="0" indent="0">
              <a:buNone/>
            </a:pPr>
            <a:r>
              <a:rPr lang="en-US" sz="1100" i="1" dirty="0">
                <a:solidFill>
                  <a:srgbClr val="4A5063"/>
                </a:solidFill>
                <a:latin typeface="Calibri" pitchFamily="34" charset="0"/>
                <a:ea typeface="Calibri" pitchFamily="34" charset="-122"/>
                <a:cs typeface="Calibri" pitchFamily="34" charset="-120"/>
              </a:rPr>
              <a:t>Messagerie (mode KRaft)</a:t>
            </a:r>
            <a:endParaRPr lang="en-US" sz="1100" dirty="0"/>
          </a:p>
        </p:txBody>
      </p:sp>
      <p:sp>
        <p:nvSpPr>
          <p:cNvPr id="25" name="Shape 23"/>
          <p:cNvSpPr/>
          <p:nvPr/>
        </p:nvSpPr>
        <p:spPr>
          <a:xfrm>
            <a:off x="3547872" y="3319272"/>
            <a:ext cx="2606040" cy="960120"/>
          </a:xfrm>
          <a:prstGeom prst="rect">
            <a:avLst/>
          </a:prstGeom>
          <a:solidFill>
            <a:srgbClr val="FFFFFF"/>
          </a:solidFill>
          <a:ln w="12700">
            <a:solidFill>
              <a:srgbClr val="E5E2D9"/>
            </a:solidFill>
            <a:prstDash val="solid"/>
          </a:ln>
        </p:spPr>
      </p:sp>
      <p:sp>
        <p:nvSpPr>
          <p:cNvPr id="26" name="Shape 24"/>
          <p:cNvSpPr/>
          <p:nvPr/>
        </p:nvSpPr>
        <p:spPr>
          <a:xfrm>
            <a:off x="3547872" y="3319272"/>
            <a:ext cx="54864" cy="960120"/>
          </a:xfrm>
          <a:prstGeom prst="rect">
            <a:avLst/>
          </a:prstGeom>
          <a:solidFill>
            <a:srgbClr val="E1251B"/>
          </a:solidFill>
          <a:ln w="12700">
            <a:solidFill>
              <a:srgbClr val="E1251B"/>
            </a:solidFill>
            <a:prstDash val="solid"/>
          </a:ln>
        </p:spPr>
      </p:sp>
      <p:sp>
        <p:nvSpPr>
          <p:cNvPr id="27" name="Text 25"/>
          <p:cNvSpPr/>
          <p:nvPr/>
        </p:nvSpPr>
        <p:spPr>
          <a:xfrm>
            <a:off x="3730752" y="3483864"/>
            <a:ext cx="2331720" cy="365760"/>
          </a:xfrm>
          <a:prstGeom prst="rect">
            <a:avLst/>
          </a:prstGeom>
          <a:noFill/>
          <a:ln/>
        </p:spPr>
        <p:txBody>
          <a:bodyPr wrap="square" lIns="0" tIns="0" rIns="0" bIns="0" rtlCol="0" anchor="ctr"/>
          <a:lstStyle/>
          <a:p>
            <a:pPr marL="0" indent="0">
              <a:buNone/>
            </a:pPr>
            <a:r>
              <a:rPr lang="en-US" sz="1400" b="1" dirty="0">
                <a:solidFill>
                  <a:srgbClr val="0A0F1E"/>
                </a:solidFill>
                <a:latin typeface="Georgia" pitchFamily="34" charset="0"/>
                <a:ea typeface="Georgia" pitchFamily="34" charset="-122"/>
                <a:cs typeface="Georgia" pitchFamily="34" charset="-120"/>
              </a:rPr>
              <a:t>KafkaJS</a:t>
            </a:r>
            <a:endParaRPr lang="en-US" sz="1400" dirty="0"/>
          </a:p>
        </p:txBody>
      </p:sp>
      <p:sp>
        <p:nvSpPr>
          <p:cNvPr id="28" name="Text 26"/>
          <p:cNvSpPr/>
          <p:nvPr/>
        </p:nvSpPr>
        <p:spPr>
          <a:xfrm>
            <a:off x="3730752" y="3867912"/>
            <a:ext cx="2331720" cy="365760"/>
          </a:xfrm>
          <a:prstGeom prst="rect">
            <a:avLst/>
          </a:prstGeom>
          <a:noFill/>
          <a:ln/>
        </p:spPr>
        <p:txBody>
          <a:bodyPr wrap="square" lIns="0" tIns="0" rIns="0" bIns="0" rtlCol="0" anchor="ctr"/>
          <a:lstStyle/>
          <a:p>
            <a:pPr marL="0" indent="0">
              <a:buNone/>
            </a:pPr>
            <a:r>
              <a:rPr lang="en-US" sz="1100" i="1" dirty="0">
                <a:solidFill>
                  <a:srgbClr val="4A5063"/>
                </a:solidFill>
                <a:latin typeface="Calibri" pitchFamily="34" charset="0"/>
                <a:ea typeface="Calibri" pitchFamily="34" charset="-122"/>
                <a:cs typeface="Calibri" pitchFamily="34" charset="-120"/>
              </a:rPr>
              <a:t>Client Kafka pour Node</a:t>
            </a:r>
            <a:endParaRPr lang="en-US" sz="1100" dirty="0"/>
          </a:p>
        </p:txBody>
      </p:sp>
      <p:sp>
        <p:nvSpPr>
          <p:cNvPr id="29" name="Shape 27"/>
          <p:cNvSpPr/>
          <p:nvPr/>
        </p:nvSpPr>
        <p:spPr>
          <a:xfrm>
            <a:off x="6318504" y="3319272"/>
            <a:ext cx="2606040" cy="960120"/>
          </a:xfrm>
          <a:prstGeom prst="rect">
            <a:avLst/>
          </a:prstGeom>
          <a:solidFill>
            <a:srgbClr val="FFFFFF"/>
          </a:solidFill>
          <a:ln w="12700">
            <a:solidFill>
              <a:srgbClr val="E5E2D9"/>
            </a:solidFill>
            <a:prstDash val="solid"/>
          </a:ln>
        </p:spPr>
      </p:sp>
      <p:sp>
        <p:nvSpPr>
          <p:cNvPr id="30" name="Shape 28"/>
          <p:cNvSpPr/>
          <p:nvPr/>
        </p:nvSpPr>
        <p:spPr>
          <a:xfrm>
            <a:off x="6318504" y="3319272"/>
            <a:ext cx="54864" cy="960120"/>
          </a:xfrm>
          <a:prstGeom prst="rect">
            <a:avLst/>
          </a:prstGeom>
          <a:solidFill>
            <a:srgbClr val="E1251B"/>
          </a:solidFill>
          <a:ln w="12700">
            <a:solidFill>
              <a:srgbClr val="E1251B"/>
            </a:solidFill>
            <a:prstDash val="solid"/>
          </a:ln>
        </p:spPr>
      </p:sp>
      <p:sp>
        <p:nvSpPr>
          <p:cNvPr id="31" name="Text 29"/>
          <p:cNvSpPr/>
          <p:nvPr/>
        </p:nvSpPr>
        <p:spPr>
          <a:xfrm>
            <a:off x="6501384" y="3483864"/>
            <a:ext cx="2331720" cy="365760"/>
          </a:xfrm>
          <a:prstGeom prst="rect">
            <a:avLst/>
          </a:prstGeom>
          <a:noFill/>
          <a:ln/>
        </p:spPr>
        <p:txBody>
          <a:bodyPr wrap="square" lIns="0" tIns="0" rIns="0" bIns="0" rtlCol="0" anchor="ctr"/>
          <a:lstStyle/>
          <a:p>
            <a:pPr marL="0" indent="0">
              <a:buNone/>
            </a:pPr>
            <a:r>
              <a:rPr lang="en-US" sz="1400" b="1" dirty="0">
                <a:solidFill>
                  <a:srgbClr val="0A0F1E"/>
                </a:solidFill>
                <a:latin typeface="Georgia" pitchFamily="34" charset="0"/>
                <a:ea typeface="Georgia" pitchFamily="34" charset="-122"/>
                <a:cs typeface="Georgia" pitchFamily="34" charset="-120"/>
              </a:rPr>
              <a:t>Apache Spark</a:t>
            </a:r>
            <a:endParaRPr lang="en-US" sz="1400" dirty="0"/>
          </a:p>
        </p:txBody>
      </p:sp>
      <p:sp>
        <p:nvSpPr>
          <p:cNvPr id="32" name="Text 30"/>
          <p:cNvSpPr/>
          <p:nvPr/>
        </p:nvSpPr>
        <p:spPr>
          <a:xfrm>
            <a:off x="6501384" y="3867912"/>
            <a:ext cx="2331720" cy="365760"/>
          </a:xfrm>
          <a:prstGeom prst="rect">
            <a:avLst/>
          </a:prstGeom>
          <a:noFill/>
          <a:ln/>
        </p:spPr>
        <p:txBody>
          <a:bodyPr wrap="square" lIns="0" tIns="0" rIns="0" bIns="0" rtlCol="0" anchor="ctr"/>
          <a:lstStyle/>
          <a:p>
            <a:pPr marL="0" indent="0">
              <a:buNone/>
            </a:pPr>
            <a:r>
              <a:rPr lang="en-US" sz="1100" i="1" dirty="0">
                <a:solidFill>
                  <a:srgbClr val="4A5063"/>
                </a:solidFill>
                <a:latin typeface="Calibri" pitchFamily="34" charset="0"/>
                <a:ea typeface="Calibri" pitchFamily="34" charset="-122"/>
                <a:cs typeface="Calibri" pitchFamily="34" charset="-120"/>
              </a:rPr>
              <a:t>ML distribué</a:t>
            </a:r>
            <a:endParaRPr lang="en-US" sz="1100" dirty="0"/>
          </a:p>
        </p:txBody>
      </p:sp>
      <p:sp>
        <p:nvSpPr>
          <p:cNvPr id="33" name="Shape 31"/>
          <p:cNvSpPr/>
          <p:nvPr/>
        </p:nvSpPr>
        <p:spPr>
          <a:xfrm>
            <a:off x="9089136" y="3319272"/>
            <a:ext cx="2606040" cy="960120"/>
          </a:xfrm>
          <a:prstGeom prst="rect">
            <a:avLst/>
          </a:prstGeom>
          <a:solidFill>
            <a:srgbClr val="FFFFFF"/>
          </a:solidFill>
          <a:ln w="12700">
            <a:solidFill>
              <a:srgbClr val="E5E2D9"/>
            </a:solidFill>
            <a:prstDash val="solid"/>
          </a:ln>
        </p:spPr>
      </p:sp>
      <p:sp>
        <p:nvSpPr>
          <p:cNvPr id="34" name="Shape 32"/>
          <p:cNvSpPr/>
          <p:nvPr/>
        </p:nvSpPr>
        <p:spPr>
          <a:xfrm>
            <a:off x="9089136" y="3319272"/>
            <a:ext cx="54864" cy="960120"/>
          </a:xfrm>
          <a:prstGeom prst="rect">
            <a:avLst/>
          </a:prstGeom>
          <a:solidFill>
            <a:srgbClr val="E1251B"/>
          </a:solidFill>
          <a:ln w="12700">
            <a:solidFill>
              <a:srgbClr val="E1251B"/>
            </a:solidFill>
            <a:prstDash val="solid"/>
          </a:ln>
        </p:spPr>
      </p:sp>
      <p:sp>
        <p:nvSpPr>
          <p:cNvPr id="35" name="Text 33"/>
          <p:cNvSpPr/>
          <p:nvPr/>
        </p:nvSpPr>
        <p:spPr>
          <a:xfrm>
            <a:off x="9272016" y="3483864"/>
            <a:ext cx="2331720" cy="365760"/>
          </a:xfrm>
          <a:prstGeom prst="rect">
            <a:avLst/>
          </a:prstGeom>
          <a:noFill/>
          <a:ln/>
        </p:spPr>
        <p:txBody>
          <a:bodyPr wrap="square" lIns="0" tIns="0" rIns="0" bIns="0" rtlCol="0" anchor="ctr"/>
          <a:lstStyle/>
          <a:p>
            <a:pPr marL="0" indent="0">
              <a:buNone/>
            </a:pPr>
            <a:r>
              <a:rPr lang="en-US" sz="1400" b="1" dirty="0">
                <a:solidFill>
                  <a:srgbClr val="0A0F1E"/>
                </a:solidFill>
                <a:latin typeface="Georgia" pitchFamily="34" charset="0"/>
                <a:ea typeface="Georgia" pitchFamily="34" charset="-122"/>
                <a:cs typeface="Georgia" pitchFamily="34" charset="-120"/>
              </a:rPr>
              <a:t>MLlib</a:t>
            </a:r>
            <a:endParaRPr lang="en-US" sz="1400" dirty="0"/>
          </a:p>
        </p:txBody>
      </p:sp>
      <p:sp>
        <p:nvSpPr>
          <p:cNvPr id="36" name="Text 34"/>
          <p:cNvSpPr/>
          <p:nvPr/>
        </p:nvSpPr>
        <p:spPr>
          <a:xfrm>
            <a:off x="9272016" y="3867912"/>
            <a:ext cx="2331720" cy="365760"/>
          </a:xfrm>
          <a:prstGeom prst="rect">
            <a:avLst/>
          </a:prstGeom>
          <a:noFill/>
          <a:ln/>
        </p:spPr>
        <p:txBody>
          <a:bodyPr wrap="square" lIns="0" tIns="0" rIns="0" bIns="0" rtlCol="0" anchor="ctr"/>
          <a:lstStyle/>
          <a:p>
            <a:pPr marL="0" indent="0">
              <a:buNone/>
            </a:pPr>
            <a:r>
              <a:rPr lang="en-US" sz="1100" i="1" dirty="0">
                <a:solidFill>
                  <a:srgbClr val="4A5063"/>
                </a:solidFill>
                <a:latin typeface="Calibri" pitchFamily="34" charset="0"/>
                <a:ea typeface="Calibri" pitchFamily="34" charset="-122"/>
                <a:cs typeface="Calibri" pitchFamily="34" charset="-120"/>
              </a:rPr>
              <a:t>Classifieur Random Forest</a:t>
            </a:r>
            <a:endParaRPr lang="en-US" sz="1100" dirty="0"/>
          </a:p>
        </p:txBody>
      </p:sp>
      <p:sp>
        <p:nvSpPr>
          <p:cNvPr id="37" name="Shape 35"/>
          <p:cNvSpPr/>
          <p:nvPr/>
        </p:nvSpPr>
        <p:spPr>
          <a:xfrm>
            <a:off x="777240" y="4443984"/>
            <a:ext cx="2606040" cy="960120"/>
          </a:xfrm>
          <a:prstGeom prst="rect">
            <a:avLst/>
          </a:prstGeom>
          <a:solidFill>
            <a:srgbClr val="FFFFFF"/>
          </a:solidFill>
          <a:ln w="12700">
            <a:solidFill>
              <a:srgbClr val="E5E2D9"/>
            </a:solidFill>
            <a:prstDash val="solid"/>
          </a:ln>
        </p:spPr>
      </p:sp>
      <p:sp>
        <p:nvSpPr>
          <p:cNvPr id="38" name="Shape 36"/>
          <p:cNvSpPr/>
          <p:nvPr/>
        </p:nvSpPr>
        <p:spPr>
          <a:xfrm>
            <a:off x="777240" y="4443984"/>
            <a:ext cx="54864" cy="960120"/>
          </a:xfrm>
          <a:prstGeom prst="rect">
            <a:avLst/>
          </a:prstGeom>
          <a:solidFill>
            <a:srgbClr val="E1251B"/>
          </a:solidFill>
          <a:ln w="12700">
            <a:solidFill>
              <a:srgbClr val="E1251B"/>
            </a:solidFill>
            <a:prstDash val="solid"/>
          </a:ln>
        </p:spPr>
      </p:sp>
      <p:sp>
        <p:nvSpPr>
          <p:cNvPr id="39" name="Text 37"/>
          <p:cNvSpPr/>
          <p:nvPr/>
        </p:nvSpPr>
        <p:spPr>
          <a:xfrm>
            <a:off x="960120" y="4608576"/>
            <a:ext cx="2331720" cy="365760"/>
          </a:xfrm>
          <a:prstGeom prst="rect">
            <a:avLst/>
          </a:prstGeom>
          <a:noFill/>
          <a:ln/>
        </p:spPr>
        <p:txBody>
          <a:bodyPr wrap="square" lIns="0" tIns="0" rIns="0" bIns="0" rtlCol="0" anchor="ctr"/>
          <a:lstStyle/>
          <a:p>
            <a:pPr marL="0" indent="0">
              <a:buNone/>
            </a:pPr>
            <a:r>
              <a:rPr lang="en-US" sz="1400" b="1" dirty="0">
                <a:solidFill>
                  <a:srgbClr val="0A0F1E"/>
                </a:solidFill>
                <a:latin typeface="Georgia" pitchFamily="34" charset="0"/>
                <a:ea typeface="Georgia" pitchFamily="34" charset="-122"/>
                <a:cs typeface="Georgia" pitchFamily="34" charset="-120"/>
              </a:rPr>
              <a:t>MiniLM-L6-v2</a:t>
            </a:r>
            <a:endParaRPr lang="en-US" sz="1400" dirty="0"/>
          </a:p>
        </p:txBody>
      </p:sp>
      <p:sp>
        <p:nvSpPr>
          <p:cNvPr id="40" name="Text 38"/>
          <p:cNvSpPr/>
          <p:nvPr/>
        </p:nvSpPr>
        <p:spPr>
          <a:xfrm>
            <a:off x="960120" y="4992624"/>
            <a:ext cx="2331720" cy="365760"/>
          </a:xfrm>
          <a:prstGeom prst="rect">
            <a:avLst/>
          </a:prstGeom>
          <a:noFill/>
          <a:ln/>
        </p:spPr>
        <p:txBody>
          <a:bodyPr wrap="square" lIns="0" tIns="0" rIns="0" bIns="0" rtlCol="0" anchor="ctr"/>
          <a:lstStyle/>
          <a:p>
            <a:pPr marL="0" indent="0">
              <a:buNone/>
            </a:pPr>
            <a:r>
              <a:rPr lang="en-US" sz="1100" i="1" dirty="0">
                <a:solidFill>
                  <a:srgbClr val="4A5063"/>
                </a:solidFill>
                <a:latin typeface="Calibri" pitchFamily="34" charset="0"/>
                <a:ea typeface="Calibri" pitchFamily="34" charset="-122"/>
                <a:cs typeface="Calibri" pitchFamily="34" charset="-120"/>
              </a:rPr>
              <a:t>Embeddings de phrases</a:t>
            </a:r>
            <a:endParaRPr lang="en-US" sz="1100" dirty="0"/>
          </a:p>
        </p:txBody>
      </p:sp>
      <p:sp>
        <p:nvSpPr>
          <p:cNvPr id="41" name="Shape 39"/>
          <p:cNvSpPr/>
          <p:nvPr/>
        </p:nvSpPr>
        <p:spPr>
          <a:xfrm>
            <a:off x="3547872" y="4443984"/>
            <a:ext cx="2606040" cy="960120"/>
          </a:xfrm>
          <a:prstGeom prst="rect">
            <a:avLst/>
          </a:prstGeom>
          <a:solidFill>
            <a:srgbClr val="FFFFFF"/>
          </a:solidFill>
          <a:ln w="12700">
            <a:solidFill>
              <a:srgbClr val="E5E2D9"/>
            </a:solidFill>
            <a:prstDash val="solid"/>
          </a:ln>
        </p:spPr>
      </p:sp>
      <p:sp>
        <p:nvSpPr>
          <p:cNvPr id="42" name="Shape 40"/>
          <p:cNvSpPr/>
          <p:nvPr/>
        </p:nvSpPr>
        <p:spPr>
          <a:xfrm>
            <a:off x="3547872" y="4443984"/>
            <a:ext cx="54864" cy="960120"/>
          </a:xfrm>
          <a:prstGeom prst="rect">
            <a:avLst/>
          </a:prstGeom>
          <a:solidFill>
            <a:srgbClr val="E1251B"/>
          </a:solidFill>
          <a:ln w="12700">
            <a:solidFill>
              <a:srgbClr val="E1251B"/>
            </a:solidFill>
            <a:prstDash val="solid"/>
          </a:ln>
        </p:spPr>
      </p:sp>
      <p:sp>
        <p:nvSpPr>
          <p:cNvPr id="43" name="Text 41"/>
          <p:cNvSpPr/>
          <p:nvPr/>
        </p:nvSpPr>
        <p:spPr>
          <a:xfrm>
            <a:off x="3730752" y="4608576"/>
            <a:ext cx="2331720" cy="365760"/>
          </a:xfrm>
          <a:prstGeom prst="rect">
            <a:avLst/>
          </a:prstGeom>
          <a:noFill/>
          <a:ln/>
        </p:spPr>
        <p:txBody>
          <a:bodyPr wrap="square" lIns="0" tIns="0" rIns="0" bIns="0" rtlCol="0" anchor="ctr"/>
          <a:lstStyle/>
          <a:p>
            <a:pPr marL="0" indent="0">
              <a:buNone/>
            </a:pPr>
            <a:r>
              <a:rPr lang="en-US" sz="1400" b="1" dirty="0">
                <a:solidFill>
                  <a:srgbClr val="0A0F1E"/>
                </a:solidFill>
                <a:latin typeface="Georgia" pitchFamily="34" charset="0"/>
                <a:ea typeface="Georgia" pitchFamily="34" charset="-122"/>
                <a:cs typeface="Georgia" pitchFamily="34" charset="-120"/>
              </a:rPr>
              <a:t>Mistral AI</a:t>
            </a:r>
            <a:endParaRPr lang="en-US" sz="1400" dirty="0"/>
          </a:p>
        </p:txBody>
      </p:sp>
      <p:sp>
        <p:nvSpPr>
          <p:cNvPr id="44" name="Text 42"/>
          <p:cNvSpPr/>
          <p:nvPr/>
        </p:nvSpPr>
        <p:spPr>
          <a:xfrm>
            <a:off x="3730752" y="4992624"/>
            <a:ext cx="2331720" cy="365760"/>
          </a:xfrm>
          <a:prstGeom prst="rect">
            <a:avLst/>
          </a:prstGeom>
          <a:noFill/>
          <a:ln/>
        </p:spPr>
        <p:txBody>
          <a:bodyPr wrap="square" lIns="0" tIns="0" rIns="0" bIns="0" rtlCol="0" anchor="ctr"/>
          <a:lstStyle/>
          <a:p>
            <a:pPr marL="0" indent="0">
              <a:buNone/>
            </a:pPr>
            <a:r>
              <a:rPr lang="en-US" sz="1100" i="1" dirty="0">
                <a:solidFill>
                  <a:srgbClr val="4A5063"/>
                </a:solidFill>
                <a:latin typeface="Calibri" pitchFamily="34" charset="0"/>
                <a:ea typeface="Calibri" pitchFamily="34" charset="-122"/>
                <a:cs typeface="Calibri" pitchFamily="34" charset="-120"/>
              </a:rPr>
              <a:t>OCR + extraction + Q&amp;R</a:t>
            </a:r>
            <a:endParaRPr lang="en-US" sz="1100" dirty="0"/>
          </a:p>
        </p:txBody>
      </p:sp>
      <p:sp>
        <p:nvSpPr>
          <p:cNvPr id="45" name="Shape 43"/>
          <p:cNvSpPr/>
          <p:nvPr/>
        </p:nvSpPr>
        <p:spPr>
          <a:xfrm>
            <a:off x="6318504" y="4443984"/>
            <a:ext cx="2606040" cy="960120"/>
          </a:xfrm>
          <a:prstGeom prst="rect">
            <a:avLst/>
          </a:prstGeom>
          <a:solidFill>
            <a:srgbClr val="FFFFFF"/>
          </a:solidFill>
          <a:ln w="12700">
            <a:solidFill>
              <a:srgbClr val="E5E2D9"/>
            </a:solidFill>
            <a:prstDash val="solid"/>
          </a:ln>
        </p:spPr>
      </p:sp>
      <p:sp>
        <p:nvSpPr>
          <p:cNvPr id="46" name="Shape 44"/>
          <p:cNvSpPr/>
          <p:nvPr/>
        </p:nvSpPr>
        <p:spPr>
          <a:xfrm>
            <a:off x="6318504" y="4443984"/>
            <a:ext cx="54864" cy="960120"/>
          </a:xfrm>
          <a:prstGeom prst="rect">
            <a:avLst/>
          </a:prstGeom>
          <a:solidFill>
            <a:srgbClr val="E1251B"/>
          </a:solidFill>
          <a:ln w="12700">
            <a:solidFill>
              <a:srgbClr val="E1251B"/>
            </a:solidFill>
            <a:prstDash val="solid"/>
          </a:ln>
        </p:spPr>
      </p:sp>
      <p:sp>
        <p:nvSpPr>
          <p:cNvPr id="47" name="Text 45"/>
          <p:cNvSpPr/>
          <p:nvPr/>
        </p:nvSpPr>
        <p:spPr>
          <a:xfrm>
            <a:off x="6501384" y="4608576"/>
            <a:ext cx="2331720" cy="365760"/>
          </a:xfrm>
          <a:prstGeom prst="rect">
            <a:avLst/>
          </a:prstGeom>
          <a:noFill/>
          <a:ln/>
        </p:spPr>
        <p:txBody>
          <a:bodyPr wrap="square" lIns="0" tIns="0" rIns="0" bIns="0" rtlCol="0" anchor="ctr"/>
          <a:lstStyle/>
          <a:p>
            <a:pPr marL="0" indent="0">
              <a:buNone/>
            </a:pPr>
            <a:r>
              <a:rPr lang="en-US" sz="1400" b="1" dirty="0">
                <a:solidFill>
                  <a:srgbClr val="0A0F1E"/>
                </a:solidFill>
                <a:latin typeface="Georgia" pitchFamily="34" charset="0"/>
                <a:ea typeface="Georgia" pitchFamily="34" charset="-122"/>
                <a:cs typeface="Georgia" pitchFamily="34" charset="-120"/>
              </a:rPr>
              <a:t>Python</a:t>
            </a:r>
            <a:endParaRPr lang="en-US" sz="1400" dirty="0"/>
          </a:p>
        </p:txBody>
      </p:sp>
      <p:sp>
        <p:nvSpPr>
          <p:cNvPr id="48" name="Text 46"/>
          <p:cNvSpPr/>
          <p:nvPr/>
        </p:nvSpPr>
        <p:spPr>
          <a:xfrm>
            <a:off x="6501384" y="4992624"/>
            <a:ext cx="2331720" cy="365760"/>
          </a:xfrm>
          <a:prstGeom prst="rect">
            <a:avLst/>
          </a:prstGeom>
          <a:noFill/>
          <a:ln/>
        </p:spPr>
        <p:txBody>
          <a:bodyPr wrap="square" lIns="0" tIns="0" rIns="0" bIns="0" rtlCol="0" anchor="ctr"/>
          <a:lstStyle/>
          <a:p>
            <a:pPr marL="0" indent="0">
              <a:buNone/>
            </a:pPr>
            <a:r>
              <a:rPr lang="en-US" sz="1100" i="1" dirty="0">
                <a:solidFill>
                  <a:srgbClr val="4A5063"/>
                </a:solidFill>
                <a:latin typeface="Calibri" pitchFamily="34" charset="0"/>
                <a:ea typeface="Calibri" pitchFamily="34" charset="-122"/>
                <a:cs typeface="Calibri" pitchFamily="34" charset="-120"/>
              </a:rPr>
              <a:t>Runtime du worker</a:t>
            </a:r>
            <a:endParaRPr lang="en-US" sz="1100" dirty="0"/>
          </a:p>
        </p:txBody>
      </p:sp>
      <p:sp>
        <p:nvSpPr>
          <p:cNvPr id="49" name="Shape 47"/>
          <p:cNvSpPr/>
          <p:nvPr/>
        </p:nvSpPr>
        <p:spPr>
          <a:xfrm>
            <a:off x="9089136" y="4443984"/>
            <a:ext cx="2606040" cy="960120"/>
          </a:xfrm>
          <a:prstGeom prst="rect">
            <a:avLst/>
          </a:prstGeom>
          <a:solidFill>
            <a:srgbClr val="FFFFFF"/>
          </a:solidFill>
          <a:ln w="12700">
            <a:solidFill>
              <a:srgbClr val="E5E2D9"/>
            </a:solidFill>
            <a:prstDash val="solid"/>
          </a:ln>
        </p:spPr>
      </p:sp>
      <p:sp>
        <p:nvSpPr>
          <p:cNvPr id="50" name="Shape 48"/>
          <p:cNvSpPr/>
          <p:nvPr/>
        </p:nvSpPr>
        <p:spPr>
          <a:xfrm>
            <a:off x="9089136" y="4443984"/>
            <a:ext cx="54864" cy="960120"/>
          </a:xfrm>
          <a:prstGeom prst="rect">
            <a:avLst/>
          </a:prstGeom>
          <a:solidFill>
            <a:srgbClr val="E1251B"/>
          </a:solidFill>
          <a:ln w="12700">
            <a:solidFill>
              <a:srgbClr val="E1251B"/>
            </a:solidFill>
            <a:prstDash val="solid"/>
          </a:ln>
        </p:spPr>
      </p:sp>
      <p:sp>
        <p:nvSpPr>
          <p:cNvPr id="51" name="Text 49"/>
          <p:cNvSpPr/>
          <p:nvPr/>
        </p:nvSpPr>
        <p:spPr>
          <a:xfrm>
            <a:off x="9272016" y="4608576"/>
            <a:ext cx="2331720" cy="365760"/>
          </a:xfrm>
          <a:prstGeom prst="rect">
            <a:avLst/>
          </a:prstGeom>
          <a:noFill/>
          <a:ln/>
        </p:spPr>
        <p:txBody>
          <a:bodyPr wrap="square" lIns="0" tIns="0" rIns="0" bIns="0" rtlCol="0" anchor="ctr"/>
          <a:lstStyle/>
          <a:p>
            <a:pPr marL="0" indent="0">
              <a:buNone/>
            </a:pPr>
            <a:r>
              <a:rPr lang="en-US" sz="1400" b="1" dirty="0">
                <a:solidFill>
                  <a:srgbClr val="0A0F1E"/>
                </a:solidFill>
                <a:latin typeface="Georgia" pitchFamily="34" charset="0"/>
                <a:ea typeface="Georgia" pitchFamily="34" charset="-122"/>
                <a:cs typeface="Georgia" pitchFamily="34" charset="-120"/>
              </a:rPr>
              <a:t>psycopg2</a:t>
            </a:r>
            <a:endParaRPr lang="en-US" sz="1400" dirty="0"/>
          </a:p>
        </p:txBody>
      </p:sp>
      <p:sp>
        <p:nvSpPr>
          <p:cNvPr id="52" name="Text 50"/>
          <p:cNvSpPr/>
          <p:nvPr/>
        </p:nvSpPr>
        <p:spPr>
          <a:xfrm>
            <a:off x="9272016" y="4992624"/>
            <a:ext cx="2331720" cy="365760"/>
          </a:xfrm>
          <a:prstGeom prst="rect">
            <a:avLst/>
          </a:prstGeom>
          <a:noFill/>
          <a:ln/>
        </p:spPr>
        <p:txBody>
          <a:bodyPr wrap="square" lIns="0" tIns="0" rIns="0" bIns="0" rtlCol="0" anchor="ctr"/>
          <a:lstStyle/>
          <a:p>
            <a:pPr marL="0" indent="0">
              <a:buNone/>
            </a:pPr>
            <a:r>
              <a:rPr lang="en-US" sz="1100" i="1" dirty="0">
                <a:solidFill>
                  <a:srgbClr val="4A5063"/>
                </a:solidFill>
                <a:latin typeface="Calibri" pitchFamily="34" charset="0"/>
                <a:ea typeface="Calibri" pitchFamily="34" charset="-122"/>
                <a:cs typeface="Calibri" pitchFamily="34" charset="-120"/>
              </a:rPr>
              <a:t>Python ↔ Postgres</a:t>
            </a:r>
            <a:endParaRPr lang="en-US" sz="1100" dirty="0"/>
          </a:p>
        </p:txBody>
      </p:sp>
      <p:sp>
        <p:nvSpPr>
          <p:cNvPr id="53" name="Text 51"/>
          <p:cNvSpPr/>
          <p:nvPr/>
        </p:nvSpPr>
        <p:spPr>
          <a:xfrm>
            <a:off x="457200" y="6400800"/>
            <a:ext cx="5486400" cy="274320"/>
          </a:xfrm>
          <a:prstGeom prst="rect">
            <a:avLst/>
          </a:prstGeom>
          <a:noFill/>
          <a:ln/>
        </p:spPr>
        <p:txBody>
          <a:bodyPr wrap="square" rtlCol="0" anchor="ctr"/>
          <a:lstStyle/>
          <a:p>
            <a:pPr marL="0" indent="0">
              <a:buNone/>
            </a:pPr>
            <a:r>
              <a:rPr lang="en-US" sz="900" b="1" kern="0" spc="400" dirty="0">
                <a:solidFill>
                  <a:srgbClr val="8B8F9C"/>
                </a:solidFill>
                <a:latin typeface="Calibri" pitchFamily="34" charset="0"/>
                <a:ea typeface="Calibri" pitchFamily="34" charset="-122"/>
                <a:cs typeface="Calibri" pitchFamily="34" charset="-120"/>
              </a:rPr>
              <a:t>RESUMIND  ·  9/12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457200" y="457200"/>
            <a:ext cx="164592" cy="457200"/>
          </a:xfrm>
          <a:prstGeom prst="rect">
            <a:avLst/>
          </a:prstGeom>
          <a:solidFill>
            <a:srgbClr val="E1251B"/>
          </a:solidFill>
          <a:ln w="12700">
            <a:solidFill>
              <a:srgbClr val="E1251B"/>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600" dirty="0">
                <a:solidFill>
                  <a:srgbClr val="E1251B"/>
                </a:solidFill>
                <a:latin typeface="Calibri" pitchFamily="34" charset="0"/>
                <a:ea typeface="Calibri" pitchFamily="34" charset="-122"/>
                <a:cs typeface="Calibri" pitchFamily="34" charset="-120"/>
              </a:rPr>
              <a:t>DÉMO EN DIRECT</a:t>
            </a:r>
            <a:endParaRPr lang="en-US" sz="1100" dirty="0"/>
          </a:p>
        </p:txBody>
      </p:sp>
      <p:sp>
        <p:nvSpPr>
          <p:cNvPr id="4" name="Text 2"/>
          <p:cNvSpPr/>
          <p:nvPr/>
        </p:nvSpPr>
        <p:spPr>
          <a:xfrm>
            <a:off x="777240" y="914400"/>
            <a:ext cx="10972800" cy="914400"/>
          </a:xfrm>
          <a:prstGeom prst="rect">
            <a:avLst/>
          </a:prstGeom>
          <a:noFill/>
          <a:ln/>
        </p:spPr>
        <p:txBody>
          <a:bodyPr wrap="square" lIns="0" tIns="0" rIns="0" bIns="0" rtlCol="0" anchor="ctr"/>
          <a:lstStyle/>
          <a:p>
            <a:pPr marL="0" indent="0">
              <a:buNone/>
            </a:pPr>
            <a:r>
              <a:rPr lang="en-US" sz="4400" dirty="0">
                <a:solidFill>
                  <a:srgbClr val="0A0F1E"/>
                </a:solidFill>
                <a:latin typeface="Georgia" pitchFamily="34" charset="0"/>
                <a:ea typeface="Georgia" pitchFamily="34" charset="-122"/>
                <a:cs typeface="Georgia" pitchFamily="34" charset="-120"/>
              </a:rPr>
              <a:t>Place à la </a:t>
            </a:r>
            <a:r>
              <a:rPr lang="en-US" sz="4400" i="1" dirty="0">
                <a:solidFill>
                  <a:srgbClr val="E1251B"/>
                </a:solidFill>
                <a:latin typeface="Georgia" pitchFamily="34" charset="0"/>
                <a:ea typeface="Georgia" pitchFamily="34" charset="-122"/>
                <a:cs typeface="Georgia" pitchFamily="34" charset="-120"/>
              </a:rPr>
              <a:t>démo.</a:t>
            </a:r>
            <a:endParaRPr lang="en-US" sz="4400" dirty="0"/>
          </a:p>
        </p:txBody>
      </p:sp>
      <p:sp>
        <p:nvSpPr>
          <p:cNvPr id="5" name="Text 3"/>
          <p:cNvSpPr/>
          <p:nvPr/>
        </p:nvSpPr>
        <p:spPr>
          <a:xfrm>
            <a:off x="777240" y="2103120"/>
            <a:ext cx="10972800" cy="457200"/>
          </a:xfrm>
          <a:prstGeom prst="rect">
            <a:avLst/>
          </a:prstGeom>
          <a:noFill/>
          <a:ln/>
        </p:spPr>
        <p:txBody>
          <a:bodyPr wrap="square" lIns="0" tIns="0" rIns="0" bIns="0" rtlCol="0" anchor="ctr"/>
          <a:lstStyle/>
          <a:p>
            <a:pPr marL="0" indent="0">
              <a:buNone/>
            </a:pPr>
            <a:r>
              <a:rPr lang="en-US" sz="1700" i="1" dirty="0">
                <a:solidFill>
                  <a:srgbClr val="4A5063"/>
                </a:solidFill>
                <a:latin typeface="Calibri" pitchFamily="34" charset="0"/>
                <a:ea typeface="Calibri" pitchFamily="34" charset="-122"/>
                <a:cs typeface="Calibri" pitchFamily="34" charset="-120"/>
              </a:rPr>
              <a:t>Voici ce que vous allez voir.</a:t>
            </a:r>
            <a:endParaRPr lang="en-US" sz="1700" dirty="0"/>
          </a:p>
        </p:txBody>
      </p:sp>
      <p:sp>
        <p:nvSpPr>
          <p:cNvPr id="6" name="Text 4"/>
          <p:cNvSpPr/>
          <p:nvPr/>
        </p:nvSpPr>
        <p:spPr>
          <a:xfrm>
            <a:off x="777240" y="2880360"/>
            <a:ext cx="731520" cy="731520"/>
          </a:xfrm>
          <a:prstGeom prst="rect">
            <a:avLst/>
          </a:prstGeom>
          <a:noFill/>
          <a:ln/>
        </p:spPr>
        <p:txBody>
          <a:bodyPr wrap="square" lIns="0" tIns="0" rIns="0" bIns="0" rtlCol="0" anchor="ctr"/>
          <a:lstStyle/>
          <a:p>
            <a:pPr marL="0" indent="0">
              <a:buNone/>
            </a:pPr>
            <a:r>
              <a:rPr lang="en-US" sz="4800" b="1" i="1" dirty="0">
                <a:solidFill>
                  <a:srgbClr val="E1251B"/>
                </a:solidFill>
                <a:latin typeface="Georgia" pitchFamily="34" charset="0"/>
                <a:ea typeface="Georgia" pitchFamily="34" charset="-122"/>
                <a:cs typeface="Georgia" pitchFamily="34" charset="-120"/>
              </a:rPr>
              <a:t>1</a:t>
            </a:r>
            <a:endParaRPr lang="en-US" sz="4800" dirty="0"/>
          </a:p>
        </p:txBody>
      </p:sp>
      <p:sp>
        <p:nvSpPr>
          <p:cNvPr id="7" name="Text 5"/>
          <p:cNvSpPr/>
          <p:nvPr/>
        </p:nvSpPr>
        <p:spPr>
          <a:xfrm>
            <a:off x="1645920" y="2907792"/>
            <a:ext cx="6400800" cy="411480"/>
          </a:xfrm>
          <a:prstGeom prst="rect">
            <a:avLst/>
          </a:prstGeom>
          <a:noFill/>
          <a:ln/>
        </p:spPr>
        <p:txBody>
          <a:bodyPr wrap="square" lIns="0" tIns="0" rIns="0" bIns="0" rtlCol="0" anchor="ctr"/>
          <a:lstStyle/>
          <a:p>
            <a:pPr marL="0" indent="0">
              <a:buNone/>
            </a:pPr>
            <a:r>
              <a:rPr lang="en-US" sz="1900" b="1" dirty="0">
                <a:solidFill>
                  <a:srgbClr val="0A0F1E"/>
                </a:solidFill>
                <a:latin typeface="Georgia" pitchFamily="34" charset="0"/>
                <a:ea typeface="Georgia" pitchFamily="34" charset="-122"/>
                <a:cs typeface="Georgia" pitchFamily="34" charset="-120"/>
              </a:rPr>
              <a:t>Créer une fiche de poste</a:t>
            </a:r>
            <a:endParaRPr lang="en-US" sz="1900" dirty="0"/>
          </a:p>
        </p:txBody>
      </p:sp>
      <p:sp>
        <p:nvSpPr>
          <p:cNvPr id="8" name="Text 6"/>
          <p:cNvSpPr/>
          <p:nvPr/>
        </p:nvSpPr>
        <p:spPr>
          <a:xfrm>
            <a:off x="1645920" y="3310128"/>
            <a:ext cx="9601200" cy="365760"/>
          </a:xfrm>
          <a:prstGeom prst="rect">
            <a:avLst/>
          </a:prstGeom>
          <a:noFill/>
          <a:ln/>
        </p:spPr>
        <p:txBody>
          <a:bodyPr wrap="square" lIns="0" tIns="0" rIns="0" bIns="0" rtlCol="0" anchor="ctr"/>
          <a:lstStyle/>
          <a:p>
            <a:pPr marL="0" indent="0">
              <a:buNone/>
            </a:pPr>
            <a:r>
              <a:rPr lang="en-US" sz="1200" i="1" dirty="0">
                <a:solidFill>
                  <a:srgbClr val="4A5063"/>
                </a:solidFill>
                <a:latin typeface="Calibri" pitchFamily="34" charset="0"/>
                <a:ea typeface="Calibri" pitchFamily="34" charset="-122"/>
                <a:cs typeface="Calibri" pitchFamily="34" charset="-120"/>
              </a:rPr>
              <a:t>Senior React Developer, avec une vraie description complète.</a:t>
            </a:r>
            <a:endParaRPr lang="en-US" sz="1200" dirty="0"/>
          </a:p>
        </p:txBody>
      </p:sp>
      <p:sp>
        <p:nvSpPr>
          <p:cNvPr id="9" name="Text 7"/>
          <p:cNvSpPr/>
          <p:nvPr/>
        </p:nvSpPr>
        <p:spPr>
          <a:xfrm>
            <a:off x="777240" y="3749040"/>
            <a:ext cx="731520" cy="731520"/>
          </a:xfrm>
          <a:prstGeom prst="rect">
            <a:avLst/>
          </a:prstGeom>
          <a:noFill/>
          <a:ln/>
        </p:spPr>
        <p:txBody>
          <a:bodyPr wrap="square" lIns="0" tIns="0" rIns="0" bIns="0" rtlCol="0" anchor="ctr"/>
          <a:lstStyle/>
          <a:p>
            <a:pPr marL="0" indent="0">
              <a:buNone/>
            </a:pPr>
            <a:r>
              <a:rPr lang="en-US" sz="4800" b="1" i="1" dirty="0">
                <a:solidFill>
                  <a:srgbClr val="E1251B"/>
                </a:solidFill>
                <a:latin typeface="Georgia" pitchFamily="34" charset="0"/>
                <a:ea typeface="Georgia" pitchFamily="34" charset="-122"/>
                <a:cs typeface="Georgia" pitchFamily="34" charset="-120"/>
              </a:rPr>
              <a:t>2</a:t>
            </a:r>
            <a:endParaRPr lang="en-US" sz="4800" dirty="0"/>
          </a:p>
        </p:txBody>
      </p:sp>
      <p:sp>
        <p:nvSpPr>
          <p:cNvPr id="10" name="Text 8"/>
          <p:cNvSpPr/>
          <p:nvPr/>
        </p:nvSpPr>
        <p:spPr>
          <a:xfrm>
            <a:off x="1645920" y="3776472"/>
            <a:ext cx="6400800" cy="411480"/>
          </a:xfrm>
          <a:prstGeom prst="rect">
            <a:avLst/>
          </a:prstGeom>
          <a:noFill/>
          <a:ln/>
        </p:spPr>
        <p:txBody>
          <a:bodyPr wrap="square" lIns="0" tIns="0" rIns="0" bIns="0" rtlCol="0" anchor="ctr"/>
          <a:lstStyle/>
          <a:p>
            <a:pPr marL="0" indent="0">
              <a:buNone/>
            </a:pPr>
            <a:r>
              <a:rPr lang="en-US" sz="1900" b="1" dirty="0">
                <a:solidFill>
                  <a:srgbClr val="0A0F1E"/>
                </a:solidFill>
                <a:latin typeface="Georgia" pitchFamily="34" charset="0"/>
                <a:ea typeface="Georgia" pitchFamily="34" charset="-122"/>
                <a:cs typeface="Georgia" pitchFamily="34" charset="-120"/>
              </a:rPr>
              <a:t>Téléverser deux CV</a:t>
            </a:r>
            <a:endParaRPr lang="en-US" sz="1900" dirty="0"/>
          </a:p>
        </p:txBody>
      </p:sp>
      <p:sp>
        <p:nvSpPr>
          <p:cNvPr id="11" name="Text 9"/>
          <p:cNvSpPr/>
          <p:nvPr/>
        </p:nvSpPr>
        <p:spPr>
          <a:xfrm>
            <a:off x="1645920" y="4178808"/>
            <a:ext cx="9601200" cy="365760"/>
          </a:xfrm>
          <a:prstGeom prst="rect">
            <a:avLst/>
          </a:prstGeom>
          <a:noFill/>
          <a:ln/>
        </p:spPr>
        <p:txBody>
          <a:bodyPr wrap="square" lIns="0" tIns="0" rIns="0" bIns="0" rtlCol="0" anchor="ctr"/>
          <a:lstStyle/>
          <a:p>
            <a:pPr marL="0" indent="0">
              <a:buNone/>
            </a:pPr>
            <a:r>
              <a:rPr lang="en-US" sz="1200" i="1" dirty="0">
                <a:solidFill>
                  <a:srgbClr val="4A5063"/>
                </a:solidFill>
                <a:latin typeface="Calibri" pitchFamily="34" charset="0"/>
                <a:ea typeface="Calibri" pitchFamily="34" charset="-122"/>
                <a:cs typeface="Calibri" pitchFamily="34" charset="-120"/>
              </a:rPr>
              <a:t>Un développeur React qualifié, et un CV totalement hors-sujet.</a:t>
            </a:r>
            <a:endParaRPr lang="en-US" sz="1200" dirty="0"/>
          </a:p>
        </p:txBody>
      </p:sp>
      <p:sp>
        <p:nvSpPr>
          <p:cNvPr id="12" name="Text 10"/>
          <p:cNvSpPr/>
          <p:nvPr/>
        </p:nvSpPr>
        <p:spPr>
          <a:xfrm>
            <a:off x="777240" y="4617720"/>
            <a:ext cx="731520" cy="731520"/>
          </a:xfrm>
          <a:prstGeom prst="rect">
            <a:avLst/>
          </a:prstGeom>
          <a:noFill/>
          <a:ln/>
        </p:spPr>
        <p:txBody>
          <a:bodyPr wrap="square" lIns="0" tIns="0" rIns="0" bIns="0" rtlCol="0" anchor="ctr"/>
          <a:lstStyle/>
          <a:p>
            <a:pPr marL="0" indent="0">
              <a:buNone/>
            </a:pPr>
            <a:r>
              <a:rPr lang="en-US" sz="4800" b="1" i="1" dirty="0">
                <a:solidFill>
                  <a:srgbClr val="E1251B"/>
                </a:solidFill>
                <a:latin typeface="Georgia" pitchFamily="34" charset="0"/>
                <a:ea typeface="Georgia" pitchFamily="34" charset="-122"/>
                <a:cs typeface="Georgia" pitchFamily="34" charset="-120"/>
              </a:rPr>
              <a:t>3</a:t>
            </a:r>
            <a:endParaRPr lang="en-US" sz="4800" dirty="0"/>
          </a:p>
        </p:txBody>
      </p:sp>
      <p:sp>
        <p:nvSpPr>
          <p:cNvPr id="13" name="Text 11"/>
          <p:cNvSpPr/>
          <p:nvPr/>
        </p:nvSpPr>
        <p:spPr>
          <a:xfrm>
            <a:off x="1645920" y="4645152"/>
            <a:ext cx="6400800" cy="411480"/>
          </a:xfrm>
          <a:prstGeom prst="rect">
            <a:avLst/>
          </a:prstGeom>
          <a:noFill/>
          <a:ln/>
        </p:spPr>
        <p:txBody>
          <a:bodyPr wrap="square" lIns="0" tIns="0" rIns="0" bIns="0" rtlCol="0" anchor="ctr"/>
          <a:lstStyle/>
          <a:p>
            <a:pPr marL="0" indent="0">
              <a:buNone/>
            </a:pPr>
            <a:r>
              <a:rPr lang="en-US" sz="1900" b="1" dirty="0">
                <a:solidFill>
                  <a:srgbClr val="0A0F1E"/>
                </a:solidFill>
                <a:latin typeface="Georgia" pitchFamily="34" charset="0"/>
                <a:ea typeface="Georgia" pitchFamily="34" charset="-122"/>
                <a:cs typeface="Georgia" pitchFamily="34" charset="-120"/>
              </a:rPr>
              <a:t>Regarder la pipeline tourner</a:t>
            </a:r>
            <a:endParaRPr lang="en-US" sz="1900" dirty="0"/>
          </a:p>
        </p:txBody>
      </p:sp>
      <p:sp>
        <p:nvSpPr>
          <p:cNvPr id="14" name="Text 12"/>
          <p:cNvSpPr/>
          <p:nvPr/>
        </p:nvSpPr>
        <p:spPr>
          <a:xfrm>
            <a:off x="1645920" y="5047488"/>
            <a:ext cx="9601200" cy="365760"/>
          </a:xfrm>
          <a:prstGeom prst="rect">
            <a:avLst/>
          </a:prstGeom>
          <a:noFill/>
          <a:ln/>
        </p:spPr>
        <p:txBody>
          <a:bodyPr wrap="square" lIns="0" tIns="0" rIns="0" bIns="0" rtlCol="0" anchor="ctr"/>
          <a:lstStyle/>
          <a:p>
            <a:pPr marL="0" indent="0">
              <a:buNone/>
            </a:pPr>
            <a:r>
              <a:rPr lang="en-US" sz="1200" i="1" dirty="0">
                <a:solidFill>
                  <a:srgbClr val="4A5063"/>
                </a:solidFill>
                <a:latin typeface="Calibri" pitchFamily="34" charset="0"/>
                <a:ea typeface="Calibri" pitchFamily="34" charset="-122"/>
                <a:cs typeface="Calibri" pitchFamily="34" charset="-120"/>
              </a:rPr>
              <a:t>Six étapes en direct : lecture, extraction, scoring, matching, questions, sauvegarde.</a:t>
            </a:r>
            <a:endParaRPr lang="en-US" sz="1200" dirty="0"/>
          </a:p>
        </p:txBody>
      </p:sp>
      <p:sp>
        <p:nvSpPr>
          <p:cNvPr id="15" name="Text 13"/>
          <p:cNvSpPr/>
          <p:nvPr/>
        </p:nvSpPr>
        <p:spPr>
          <a:xfrm>
            <a:off x="777240" y="5486400"/>
            <a:ext cx="731520" cy="731520"/>
          </a:xfrm>
          <a:prstGeom prst="rect">
            <a:avLst/>
          </a:prstGeom>
          <a:noFill/>
          <a:ln/>
        </p:spPr>
        <p:txBody>
          <a:bodyPr wrap="square" lIns="0" tIns="0" rIns="0" bIns="0" rtlCol="0" anchor="ctr"/>
          <a:lstStyle/>
          <a:p>
            <a:pPr marL="0" indent="0">
              <a:buNone/>
            </a:pPr>
            <a:r>
              <a:rPr lang="en-US" sz="4800" b="1" i="1" dirty="0">
                <a:solidFill>
                  <a:srgbClr val="E1251B"/>
                </a:solidFill>
                <a:latin typeface="Georgia" pitchFamily="34" charset="0"/>
                <a:ea typeface="Georgia" pitchFamily="34" charset="-122"/>
                <a:cs typeface="Georgia" pitchFamily="34" charset="-120"/>
              </a:rPr>
              <a:t>4</a:t>
            </a:r>
            <a:endParaRPr lang="en-US" sz="4800" dirty="0"/>
          </a:p>
        </p:txBody>
      </p:sp>
      <p:sp>
        <p:nvSpPr>
          <p:cNvPr id="16" name="Text 14"/>
          <p:cNvSpPr/>
          <p:nvPr/>
        </p:nvSpPr>
        <p:spPr>
          <a:xfrm>
            <a:off x="1645920" y="5513832"/>
            <a:ext cx="6400800" cy="411480"/>
          </a:xfrm>
          <a:prstGeom prst="rect">
            <a:avLst/>
          </a:prstGeom>
          <a:noFill/>
          <a:ln/>
        </p:spPr>
        <p:txBody>
          <a:bodyPr wrap="square" lIns="0" tIns="0" rIns="0" bIns="0" rtlCol="0" anchor="ctr"/>
          <a:lstStyle/>
          <a:p>
            <a:pPr marL="0" indent="0">
              <a:buNone/>
            </a:pPr>
            <a:r>
              <a:rPr lang="en-US" sz="1900" b="1" dirty="0">
                <a:solidFill>
                  <a:srgbClr val="0A0F1E"/>
                </a:solidFill>
                <a:latin typeface="Georgia" pitchFamily="34" charset="0"/>
                <a:ea typeface="Georgia" pitchFamily="34" charset="-122"/>
                <a:cs typeface="Georgia" pitchFamily="34" charset="-120"/>
              </a:rPr>
              <a:t>Voir le verdict</a:t>
            </a:r>
            <a:endParaRPr lang="en-US" sz="1900" dirty="0"/>
          </a:p>
        </p:txBody>
      </p:sp>
      <p:sp>
        <p:nvSpPr>
          <p:cNvPr id="17" name="Text 15"/>
          <p:cNvSpPr/>
          <p:nvPr/>
        </p:nvSpPr>
        <p:spPr>
          <a:xfrm>
            <a:off x="1645920" y="5916168"/>
            <a:ext cx="9601200" cy="365760"/>
          </a:xfrm>
          <a:prstGeom prst="rect">
            <a:avLst/>
          </a:prstGeom>
          <a:noFill/>
          <a:ln/>
        </p:spPr>
        <p:txBody>
          <a:bodyPr wrap="square" lIns="0" tIns="0" rIns="0" bIns="0" rtlCol="0" anchor="ctr"/>
          <a:lstStyle/>
          <a:p>
            <a:pPr marL="0" indent="0">
              <a:buNone/>
            </a:pPr>
            <a:r>
              <a:rPr lang="en-US" sz="1200" i="1" dirty="0">
                <a:solidFill>
                  <a:srgbClr val="4A5063"/>
                </a:solidFill>
                <a:latin typeface="Calibri" pitchFamily="34" charset="0"/>
                <a:ea typeface="Calibri" pitchFamily="34" charset="-122"/>
                <a:cs typeface="Calibri" pitchFamily="34" charset="-120"/>
              </a:rPr>
              <a:t>Le candidat pertinent est présélectionné, l'autre est rejeté. Avec les questions d'entretien à la clé.</a:t>
            </a:r>
            <a:endParaRPr lang="en-US" sz="1200" dirty="0"/>
          </a:p>
        </p:txBody>
      </p:sp>
      <p:sp>
        <p:nvSpPr>
          <p:cNvPr id="18" name="Text 16"/>
          <p:cNvSpPr/>
          <p:nvPr/>
        </p:nvSpPr>
        <p:spPr>
          <a:xfrm>
            <a:off x="457200" y="6400800"/>
            <a:ext cx="5486400" cy="274320"/>
          </a:xfrm>
          <a:prstGeom prst="rect">
            <a:avLst/>
          </a:prstGeom>
          <a:noFill/>
          <a:ln/>
        </p:spPr>
        <p:txBody>
          <a:bodyPr wrap="square" rtlCol="0" anchor="ctr"/>
          <a:lstStyle/>
          <a:p>
            <a:pPr marL="0" indent="0">
              <a:buNone/>
            </a:pPr>
            <a:r>
              <a:rPr lang="en-US" sz="900" b="1" kern="0" spc="400" dirty="0">
                <a:solidFill>
                  <a:srgbClr val="8B8F9C"/>
                </a:solidFill>
                <a:latin typeface="Calibri" pitchFamily="34" charset="0"/>
                <a:ea typeface="Calibri" pitchFamily="34" charset="-122"/>
                <a:cs typeface="Calibri" pitchFamily="34" charset="-120"/>
              </a:rPr>
              <a:t>RESUMIND  ·  10/12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457200" y="457200"/>
            <a:ext cx="164592" cy="457200"/>
          </a:xfrm>
          <a:prstGeom prst="rect">
            <a:avLst/>
          </a:prstGeom>
          <a:solidFill>
            <a:srgbClr val="E1251B"/>
          </a:solidFill>
          <a:ln w="12700">
            <a:solidFill>
              <a:srgbClr val="E1251B"/>
            </a:solidFill>
            <a:prstDash val="solid"/>
          </a:ln>
        </p:spPr>
      </p:sp>
      <p:sp>
        <p:nvSpPr>
          <p:cNvPr id="3" name="Text 1"/>
          <p:cNvSpPr/>
          <p:nvPr/>
        </p:nvSpPr>
        <p:spPr>
          <a:xfrm>
            <a:off x="777240" y="457200"/>
            <a:ext cx="5486400" cy="274320"/>
          </a:xfrm>
          <a:prstGeom prst="rect">
            <a:avLst/>
          </a:prstGeom>
          <a:noFill/>
          <a:ln/>
        </p:spPr>
        <p:txBody>
          <a:bodyPr wrap="square" lIns="0" tIns="0" rIns="0" bIns="0" rtlCol="0" anchor="ctr"/>
          <a:lstStyle/>
          <a:p>
            <a:pPr marL="0" indent="0">
              <a:buNone/>
            </a:pPr>
            <a:r>
              <a:rPr lang="en-US" sz="1100" b="1" kern="0" spc="600" dirty="0">
                <a:solidFill>
                  <a:srgbClr val="E1251B"/>
                </a:solidFill>
                <a:latin typeface="Calibri" pitchFamily="34" charset="0"/>
                <a:ea typeface="Calibri" pitchFamily="34" charset="-122"/>
                <a:cs typeface="Calibri" pitchFamily="34" charset="-120"/>
              </a:rPr>
              <a:t>LA SUITE</a:t>
            </a:r>
            <a:endParaRPr lang="en-US" sz="1100" dirty="0"/>
          </a:p>
        </p:txBody>
      </p:sp>
      <p:sp>
        <p:nvSpPr>
          <p:cNvPr id="4" name="Text 2"/>
          <p:cNvSpPr/>
          <p:nvPr/>
        </p:nvSpPr>
        <p:spPr>
          <a:xfrm>
            <a:off x="777240" y="914400"/>
            <a:ext cx="10972800" cy="914400"/>
          </a:xfrm>
          <a:prstGeom prst="rect">
            <a:avLst/>
          </a:prstGeom>
          <a:noFill/>
          <a:ln/>
        </p:spPr>
        <p:txBody>
          <a:bodyPr wrap="square" lIns="0" tIns="0" rIns="0" bIns="0" rtlCol="0" anchor="ctr"/>
          <a:lstStyle/>
          <a:p>
            <a:pPr marL="0" indent="0">
              <a:buNone/>
            </a:pPr>
            <a:r>
              <a:rPr lang="en-US" sz="4400" dirty="0">
                <a:solidFill>
                  <a:srgbClr val="0A0F1E"/>
                </a:solidFill>
                <a:latin typeface="Georgia" pitchFamily="34" charset="0"/>
                <a:ea typeface="Georgia" pitchFamily="34" charset="-122"/>
                <a:cs typeface="Georgia" pitchFamily="34" charset="-120"/>
              </a:rPr>
              <a:t>Et </a:t>
            </a:r>
            <a:r>
              <a:rPr lang="en-US" sz="4400" i="1" dirty="0">
                <a:solidFill>
                  <a:srgbClr val="E1251B"/>
                </a:solidFill>
                <a:latin typeface="Georgia" pitchFamily="34" charset="0"/>
                <a:ea typeface="Georgia" pitchFamily="34" charset="-122"/>
                <a:cs typeface="Georgia" pitchFamily="34" charset="-120"/>
              </a:rPr>
              <a:t>ensuite </a:t>
            </a:r>
            <a:r>
              <a:rPr lang="en-US" sz="4400" dirty="0">
                <a:solidFill>
                  <a:srgbClr val="0A0F1E"/>
                </a:solidFill>
                <a:latin typeface="Georgia" pitchFamily="34" charset="0"/>
                <a:ea typeface="Georgia" pitchFamily="34" charset="-122"/>
                <a:cs typeface="Georgia" pitchFamily="34" charset="-120"/>
              </a:rPr>
              <a:t>?</a:t>
            </a:r>
            <a:endParaRPr lang="en-US" sz="4400" dirty="0"/>
          </a:p>
        </p:txBody>
      </p:sp>
      <p:sp>
        <p:nvSpPr>
          <p:cNvPr id="5" name="Text 3"/>
          <p:cNvSpPr/>
          <p:nvPr/>
        </p:nvSpPr>
        <p:spPr>
          <a:xfrm>
            <a:off x="777240" y="2103120"/>
            <a:ext cx="10972800" cy="457200"/>
          </a:xfrm>
          <a:prstGeom prst="rect">
            <a:avLst/>
          </a:prstGeom>
          <a:noFill/>
          <a:ln/>
        </p:spPr>
        <p:txBody>
          <a:bodyPr wrap="square" lIns="0" tIns="0" rIns="0" bIns="0" rtlCol="0" anchor="ctr"/>
          <a:lstStyle/>
          <a:p>
            <a:pPr marL="0" indent="0">
              <a:buNone/>
            </a:pPr>
            <a:r>
              <a:rPr lang="en-US" sz="1600" i="1" dirty="0">
                <a:solidFill>
                  <a:srgbClr val="4A5063"/>
                </a:solidFill>
                <a:latin typeface="Calibri" pitchFamily="34" charset="0"/>
                <a:ea typeface="Calibri" pitchFamily="34" charset="-122"/>
                <a:cs typeface="Calibri" pitchFamily="34" charset="-120"/>
              </a:rPr>
              <a:t>Trois extensions naturelles pour la suite du projet.</a:t>
            </a:r>
            <a:endParaRPr lang="en-US" sz="1600" dirty="0"/>
          </a:p>
        </p:txBody>
      </p:sp>
      <p:sp>
        <p:nvSpPr>
          <p:cNvPr id="6" name="Shape 4"/>
          <p:cNvSpPr/>
          <p:nvPr/>
        </p:nvSpPr>
        <p:spPr>
          <a:xfrm>
            <a:off x="777240" y="2834640"/>
            <a:ext cx="10607040" cy="960120"/>
          </a:xfrm>
          <a:prstGeom prst="rect">
            <a:avLst/>
          </a:prstGeom>
          <a:solidFill>
            <a:srgbClr val="FFFFFF"/>
          </a:solidFill>
          <a:ln w="12700">
            <a:solidFill>
              <a:srgbClr val="E5E2D9"/>
            </a:solidFill>
            <a:prstDash val="solid"/>
          </a:ln>
        </p:spPr>
      </p:sp>
      <p:sp>
        <p:nvSpPr>
          <p:cNvPr id="7" name="Shape 5"/>
          <p:cNvSpPr/>
          <p:nvPr/>
        </p:nvSpPr>
        <p:spPr>
          <a:xfrm>
            <a:off x="777240" y="2834640"/>
            <a:ext cx="73152" cy="960120"/>
          </a:xfrm>
          <a:prstGeom prst="rect">
            <a:avLst/>
          </a:prstGeom>
          <a:solidFill>
            <a:srgbClr val="E1251B"/>
          </a:solidFill>
          <a:ln w="12700">
            <a:solidFill>
              <a:srgbClr val="E1251B"/>
            </a:solidFill>
            <a:prstDash val="solid"/>
          </a:ln>
        </p:spPr>
      </p:sp>
      <p:sp>
        <p:nvSpPr>
          <p:cNvPr id="8" name="Text 6"/>
          <p:cNvSpPr/>
          <p:nvPr/>
        </p:nvSpPr>
        <p:spPr>
          <a:xfrm>
            <a:off x="1005840" y="2971800"/>
            <a:ext cx="731520" cy="457200"/>
          </a:xfrm>
          <a:prstGeom prst="rect">
            <a:avLst/>
          </a:prstGeom>
          <a:noFill/>
          <a:ln/>
        </p:spPr>
        <p:txBody>
          <a:bodyPr wrap="square" lIns="0" tIns="0" rIns="0" bIns="0" rtlCol="0" anchor="ctr"/>
          <a:lstStyle/>
          <a:p>
            <a:pPr marL="0" indent="0">
              <a:buNone/>
            </a:pPr>
            <a:r>
              <a:rPr lang="en-US" sz="2200" b="1" i="1" dirty="0">
                <a:solidFill>
                  <a:srgbClr val="E1251B"/>
                </a:solidFill>
                <a:latin typeface="Georgia" pitchFamily="34" charset="0"/>
                <a:ea typeface="Georgia" pitchFamily="34" charset="-122"/>
                <a:cs typeface="Georgia" pitchFamily="34" charset="-120"/>
              </a:rPr>
              <a:t>01</a:t>
            </a:r>
            <a:endParaRPr lang="en-US" sz="2200" dirty="0"/>
          </a:p>
        </p:txBody>
      </p:sp>
      <p:sp>
        <p:nvSpPr>
          <p:cNvPr id="9" name="Text 7"/>
          <p:cNvSpPr/>
          <p:nvPr/>
        </p:nvSpPr>
        <p:spPr>
          <a:xfrm>
            <a:off x="1828800" y="2971800"/>
            <a:ext cx="9144000" cy="365760"/>
          </a:xfrm>
          <a:prstGeom prst="rect">
            <a:avLst/>
          </a:prstGeom>
          <a:noFill/>
          <a:ln/>
        </p:spPr>
        <p:txBody>
          <a:bodyPr wrap="square" lIns="0" tIns="0" rIns="0" bIns="0" rtlCol="0" anchor="ctr"/>
          <a:lstStyle/>
          <a:p>
            <a:pPr marL="0" indent="0">
              <a:buNone/>
            </a:pPr>
            <a:r>
              <a:rPr lang="en-US" sz="1700" b="1" dirty="0">
                <a:solidFill>
                  <a:srgbClr val="0A0F1E"/>
                </a:solidFill>
                <a:latin typeface="Georgia" pitchFamily="34" charset="0"/>
                <a:ea typeface="Georgia" pitchFamily="34" charset="-122"/>
                <a:cs typeface="Georgia" pitchFamily="34" charset="-120"/>
              </a:rPr>
              <a:t>Tableau de bord Spark Streaming</a:t>
            </a:r>
            <a:endParaRPr lang="en-US" sz="1700" dirty="0"/>
          </a:p>
        </p:txBody>
      </p:sp>
      <p:sp>
        <p:nvSpPr>
          <p:cNvPr id="10" name="Text 8"/>
          <p:cNvSpPr/>
          <p:nvPr/>
        </p:nvSpPr>
        <p:spPr>
          <a:xfrm>
            <a:off x="1828800" y="3337560"/>
            <a:ext cx="9418320" cy="457200"/>
          </a:xfrm>
          <a:prstGeom prst="rect">
            <a:avLst/>
          </a:prstGeom>
          <a:noFill/>
          <a:ln/>
        </p:spPr>
        <p:txBody>
          <a:bodyPr wrap="square" lIns="0" tIns="0" rIns="0" bIns="0" rtlCol="0" anchor="ctr"/>
          <a:lstStyle/>
          <a:p>
            <a:pPr marL="0" indent="0">
              <a:lnSpc>
                <a:spcPct val="130000"/>
              </a:lnSpc>
              <a:buNone/>
            </a:pPr>
            <a:r>
              <a:rPr lang="en-US" sz="1100" i="1" dirty="0">
                <a:solidFill>
                  <a:srgbClr val="4A5063"/>
                </a:solidFill>
                <a:latin typeface="Calibri" pitchFamily="34" charset="0"/>
                <a:ea typeface="Calibri" pitchFamily="34" charset="-122"/>
                <a:cs typeface="Calibri" pitchFamily="34" charset="-120"/>
              </a:rPr>
              <a:t>Un second consommateur sur le topic scored-candidates qui agrège les décisions en temps réel : nombre de candidats par poste, scores moyens, tendances. C'est le pattern fan-out de Kafka utilisé pour de vrai.</a:t>
            </a:r>
            <a:endParaRPr lang="en-US" sz="1100" dirty="0"/>
          </a:p>
        </p:txBody>
      </p:sp>
      <p:sp>
        <p:nvSpPr>
          <p:cNvPr id="11" name="Shape 9"/>
          <p:cNvSpPr/>
          <p:nvPr/>
        </p:nvSpPr>
        <p:spPr>
          <a:xfrm>
            <a:off x="777240" y="3977640"/>
            <a:ext cx="10607040" cy="960120"/>
          </a:xfrm>
          <a:prstGeom prst="rect">
            <a:avLst/>
          </a:prstGeom>
          <a:solidFill>
            <a:srgbClr val="FFFFFF"/>
          </a:solidFill>
          <a:ln w="12700">
            <a:solidFill>
              <a:srgbClr val="E5E2D9"/>
            </a:solidFill>
            <a:prstDash val="solid"/>
          </a:ln>
        </p:spPr>
      </p:sp>
      <p:sp>
        <p:nvSpPr>
          <p:cNvPr id="12" name="Shape 10"/>
          <p:cNvSpPr/>
          <p:nvPr/>
        </p:nvSpPr>
        <p:spPr>
          <a:xfrm>
            <a:off x="777240" y="3977640"/>
            <a:ext cx="73152" cy="960120"/>
          </a:xfrm>
          <a:prstGeom prst="rect">
            <a:avLst/>
          </a:prstGeom>
          <a:solidFill>
            <a:srgbClr val="E1251B"/>
          </a:solidFill>
          <a:ln w="12700">
            <a:solidFill>
              <a:srgbClr val="E1251B"/>
            </a:solidFill>
            <a:prstDash val="solid"/>
          </a:ln>
        </p:spPr>
      </p:sp>
      <p:sp>
        <p:nvSpPr>
          <p:cNvPr id="13" name="Text 11"/>
          <p:cNvSpPr/>
          <p:nvPr/>
        </p:nvSpPr>
        <p:spPr>
          <a:xfrm>
            <a:off x="1005840" y="4114800"/>
            <a:ext cx="731520" cy="457200"/>
          </a:xfrm>
          <a:prstGeom prst="rect">
            <a:avLst/>
          </a:prstGeom>
          <a:noFill/>
          <a:ln/>
        </p:spPr>
        <p:txBody>
          <a:bodyPr wrap="square" lIns="0" tIns="0" rIns="0" bIns="0" rtlCol="0" anchor="ctr"/>
          <a:lstStyle/>
          <a:p>
            <a:pPr marL="0" indent="0">
              <a:buNone/>
            </a:pPr>
            <a:r>
              <a:rPr lang="en-US" sz="2200" b="1" i="1" dirty="0">
                <a:solidFill>
                  <a:srgbClr val="E1251B"/>
                </a:solidFill>
                <a:latin typeface="Georgia" pitchFamily="34" charset="0"/>
                <a:ea typeface="Georgia" pitchFamily="34" charset="-122"/>
                <a:cs typeface="Georgia" pitchFamily="34" charset="-120"/>
              </a:rPr>
              <a:t>02</a:t>
            </a:r>
            <a:endParaRPr lang="en-US" sz="2200" dirty="0"/>
          </a:p>
        </p:txBody>
      </p:sp>
      <p:sp>
        <p:nvSpPr>
          <p:cNvPr id="14" name="Text 12"/>
          <p:cNvSpPr/>
          <p:nvPr/>
        </p:nvSpPr>
        <p:spPr>
          <a:xfrm>
            <a:off x="1828800" y="4114800"/>
            <a:ext cx="9144000" cy="365760"/>
          </a:xfrm>
          <a:prstGeom prst="rect">
            <a:avLst/>
          </a:prstGeom>
          <a:noFill/>
          <a:ln/>
        </p:spPr>
        <p:txBody>
          <a:bodyPr wrap="square" lIns="0" tIns="0" rIns="0" bIns="0" rtlCol="0" anchor="ctr"/>
          <a:lstStyle/>
          <a:p>
            <a:pPr marL="0" indent="0">
              <a:buNone/>
            </a:pPr>
            <a:r>
              <a:rPr lang="en-US" sz="1700" b="1" dirty="0">
                <a:solidFill>
                  <a:srgbClr val="0A0F1E"/>
                </a:solidFill>
                <a:latin typeface="Georgia" pitchFamily="34" charset="0"/>
                <a:ea typeface="Georgia" pitchFamily="34" charset="-122"/>
                <a:cs typeface="Georgia" pitchFamily="34" charset="-120"/>
              </a:rPr>
              <a:t>Boucle de feedback du recruteur</a:t>
            </a:r>
            <a:endParaRPr lang="en-US" sz="1700" dirty="0"/>
          </a:p>
        </p:txBody>
      </p:sp>
      <p:sp>
        <p:nvSpPr>
          <p:cNvPr id="15" name="Text 13"/>
          <p:cNvSpPr/>
          <p:nvPr/>
        </p:nvSpPr>
        <p:spPr>
          <a:xfrm>
            <a:off x="1828800" y="4480560"/>
            <a:ext cx="9418320" cy="457200"/>
          </a:xfrm>
          <a:prstGeom prst="rect">
            <a:avLst/>
          </a:prstGeom>
          <a:noFill/>
          <a:ln/>
        </p:spPr>
        <p:txBody>
          <a:bodyPr wrap="square" lIns="0" tIns="0" rIns="0" bIns="0" rtlCol="0" anchor="ctr"/>
          <a:lstStyle/>
          <a:p>
            <a:pPr marL="0" indent="0">
              <a:lnSpc>
                <a:spcPct val="130000"/>
              </a:lnSpc>
              <a:buNone/>
            </a:pPr>
            <a:r>
              <a:rPr lang="en-US" sz="1100" i="1" dirty="0">
                <a:solidFill>
                  <a:srgbClr val="4A5063"/>
                </a:solidFill>
                <a:latin typeface="Calibri" pitchFamily="34" charset="0"/>
                <a:ea typeface="Calibri" pitchFamily="34" charset="-122"/>
                <a:cs typeface="Calibri" pitchFamily="34" charset="-120"/>
              </a:rPr>
              <a:t>Le recruteur valide ou rejette manuellement chaque candidat. Le système ajuste alors les seuils du poste — apprentissage en continu, par offre.</a:t>
            </a:r>
            <a:endParaRPr lang="en-US" sz="1100" dirty="0"/>
          </a:p>
        </p:txBody>
      </p:sp>
      <p:sp>
        <p:nvSpPr>
          <p:cNvPr id="16" name="Shape 14"/>
          <p:cNvSpPr/>
          <p:nvPr/>
        </p:nvSpPr>
        <p:spPr>
          <a:xfrm>
            <a:off x="777240" y="5120640"/>
            <a:ext cx="10607040" cy="960120"/>
          </a:xfrm>
          <a:prstGeom prst="rect">
            <a:avLst/>
          </a:prstGeom>
          <a:solidFill>
            <a:srgbClr val="FFFFFF"/>
          </a:solidFill>
          <a:ln w="12700">
            <a:solidFill>
              <a:srgbClr val="E5E2D9"/>
            </a:solidFill>
            <a:prstDash val="solid"/>
          </a:ln>
        </p:spPr>
      </p:sp>
      <p:sp>
        <p:nvSpPr>
          <p:cNvPr id="17" name="Shape 15"/>
          <p:cNvSpPr/>
          <p:nvPr/>
        </p:nvSpPr>
        <p:spPr>
          <a:xfrm>
            <a:off x="777240" y="5120640"/>
            <a:ext cx="73152" cy="960120"/>
          </a:xfrm>
          <a:prstGeom prst="rect">
            <a:avLst/>
          </a:prstGeom>
          <a:solidFill>
            <a:srgbClr val="E1251B"/>
          </a:solidFill>
          <a:ln w="12700">
            <a:solidFill>
              <a:srgbClr val="E1251B"/>
            </a:solidFill>
            <a:prstDash val="solid"/>
          </a:ln>
        </p:spPr>
      </p:sp>
      <p:sp>
        <p:nvSpPr>
          <p:cNvPr id="18" name="Text 16"/>
          <p:cNvSpPr/>
          <p:nvPr/>
        </p:nvSpPr>
        <p:spPr>
          <a:xfrm>
            <a:off x="1005840" y="5257800"/>
            <a:ext cx="731520" cy="457200"/>
          </a:xfrm>
          <a:prstGeom prst="rect">
            <a:avLst/>
          </a:prstGeom>
          <a:noFill/>
          <a:ln/>
        </p:spPr>
        <p:txBody>
          <a:bodyPr wrap="square" lIns="0" tIns="0" rIns="0" bIns="0" rtlCol="0" anchor="ctr"/>
          <a:lstStyle/>
          <a:p>
            <a:pPr marL="0" indent="0">
              <a:buNone/>
            </a:pPr>
            <a:r>
              <a:rPr lang="en-US" sz="2200" b="1" i="1" dirty="0">
                <a:solidFill>
                  <a:srgbClr val="E1251B"/>
                </a:solidFill>
                <a:latin typeface="Georgia" pitchFamily="34" charset="0"/>
                <a:ea typeface="Georgia" pitchFamily="34" charset="-122"/>
                <a:cs typeface="Georgia" pitchFamily="34" charset="-120"/>
              </a:rPr>
              <a:t>03</a:t>
            </a:r>
            <a:endParaRPr lang="en-US" sz="2200" dirty="0"/>
          </a:p>
        </p:txBody>
      </p:sp>
      <p:sp>
        <p:nvSpPr>
          <p:cNvPr id="19" name="Text 17"/>
          <p:cNvSpPr/>
          <p:nvPr/>
        </p:nvSpPr>
        <p:spPr>
          <a:xfrm>
            <a:off x="1828800" y="5257800"/>
            <a:ext cx="9144000" cy="365760"/>
          </a:xfrm>
          <a:prstGeom prst="rect">
            <a:avLst/>
          </a:prstGeom>
          <a:noFill/>
          <a:ln/>
        </p:spPr>
        <p:txBody>
          <a:bodyPr wrap="square" lIns="0" tIns="0" rIns="0" bIns="0" rtlCol="0" anchor="ctr"/>
          <a:lstStyle/>
          <a:p>
            <a:pPr marL="0" indent="0">
              <a:buNone/>
            </a:pPr>
            <a:r>
              <a:rPr lang="en-US" sz="1700" b="1" dirty="0">
                <a:solidFill>
                  <a:srgbClr val="0A0F1E"/>
                </a:solidFill>
                <a:latin typeface="Georgia" pitchFamily="34" charset="0"/>
                <a:ea typeface="Georgia" pitchFamily="34" charset="-122"/>
                <a:cs typeface="Georgia" pitchFamily="34" charset="-120"/>
              </a:rPr>
              <a:t>Téléversement multi-CV + comparaison</a:t>
            </a:r>
            <a:endParaRPr lang="en-US" sz="1700" dirty="0"/>
          </a:p>
        </p:txBody>
      </p:sp>
      <p:sp>
        <p:nvSpPr>
          <p:cNvPr id="20" name="Text 18"/>
          <p:cNvSpPr/>
          <p:nvPr/>
        </p:nvSpPr>
        <p:spPr>
          <a:xfrm>
            <a:off x="1828800" y="5623560"/>
            <a:ext cx="9418320" cy="457200"/>
          </a:xfrm>
          <a:prstGeom prst="rect">
            <a:avLst/>
          </a:prstGeom>
          <a:noFill/>
          <a:ln/>
        </p:spPr>
        <p:txBody>
          <a:bodyPr wrap="square" lIns="0" tIns="0" rIns="0" bIns="0" rtlCol="0" anchor="ctr"/>
          <a:lstStyle/>
          <a:p>
            <a:pPr marL="0" indent="0">
              <a:lnSpc>
                <a:spcPct val="130000"/>
              </a:lnSpc>
              <a:buNone/>
            </a:pPr>
            <a:r>
              <a:rPr lang="en-US" sz="1100" i="1" dirty="0">
                <a:solidFill>
                  <a:srgbClr val="4A5063"/>
                </a:solidFill>
                <a:latin typeface="Calibri" pitchFamily="34" charset="0"/>
                <a:ea typeface="Calibri" pitchFamily="34" charset="-122"/>
                <a:cs typeface="Calibri" pitchFamily="34" charset="-120"/>
              </a:rPr>
              <a:t>Importer plusieurs CV d'un coup, les voir classés côte à côte par score d'adéquation. Permet au recruteur de comparer en un coup d'œil.</a:t>
            </a:r>
            <a:endParaRPr lang="en-US" sz="1100" dirty="0"/>
          </a:p>
        </p:txBody>
      </p:sp>
      <p:sp>
        <p:nvSpPr>
          <p:cNvPr id="21" name="Text 19"/>
          <p:cNvSpPr/>
          <p:nvPr/>
        </p:nvSpPr>
        <p:spPr>
          <a:xfrm>
            <a:off x="457200" y="6400800"/>
            <a:ext cx="5486400" cy="274320"/>
          </a:xfrm>
          <a:prstGeom prst="rect">
            <a:avLst/>
          </a:prstGeom>
          <a:noFill/>
          <a:ln/>
        </p:spPr>
        <p:txBody>
          <a:bodyPr wrap="square" rtlCol="0" anchor="ctr"/>
          <a:lstStyle/>
          <a:p>
            <a:pPr marL="0" indent="0">
              <a:buNone/>
            </a:pPr>
            <a:r>
              <a:rPr lang="en-US" sz="900" b="1" kern="0" spc="400" dirty="0">
                <a:solidFill>
                  <a:srgbClr val="8B8F9C"/>
                </a:solidFill>
                <a:latin typeface="Calibri" pitchFamily="34" charset="0"/>
                <a:ea typeface="Calibri" pitchFamily="34" charset="-122"/>
                <a:cs typeface="Calibri" pitchFamily="34" charset="-120"/>
              </a:rPr>
              <a:t>RESUMIND  ·  11/12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1097280" cy="6858000"/>
          </a:xfrm>
          <a:prstGeom prst="rect">
            <a:avLst/>
          </a:prstGeom>
          <a:solidFill>
            <a:srgbClr val="E1251B"/>
          </a:solidFill>
          <a:ln w="12700">
            <a:solidFill>
              <a:srgbClr val="E1251B"/>
            </a:solidFill>
            <a:prstDash val="solid"/>
          </a:ln>
        </p:spPr>
      </p:sp>
      <p:sp>
        <p:nvSpPr>
          <p:cNvPr id="3" name="Text 1"/>
          <p:cNvSpPr/>
          <p:nvPr/>
        </p:nvSpPr>
        <p:spPr>
          <a:xfrm rot="16200000">
            <a:off x="-2194560" y="3108960"/>
            <a:ext cx="5486400" cy="640080"/>
          </a:xfrm>
          <a:prstGeom prst="rect">
            <a:avLst/>
          </a:prstGeom>
          <a:noFill/>
          <a:ln/>
        </p:spPr>
        <p:txBody>
          <a:bodyPr wrap="square" lIns="0" tIns="0" rIns="0" bIns="0" rtlCol="0" anchor="ctr"/>
          <a:lstStyle/>
          <a:p>
            <a:pPr marL="0" indent="0">
              <a:buNone/>
            </a:pPr>
            <a:r>
              <a:rPr lang="en-US" sz="2200" b="1" kern="0" spc="1400" dirty="0">
                <a:solidFill>
                  <a:srgbClr val="FFFFFF"/>
                </a:solidFill>
                <a:latin typeface="Impact" pitchFamily="34" charset="0"/>
                <a:ea typeface="Impact" pitchFamily="34" charset="-122"/>
                <a:cs typeface="Impact" pitchFamily="34" charset="-120"/>
              </a:rPr>
              <a:t>RESUMIND</a:t>
            </a:r>
            <a:endParaRPr lang="en-US" sz="2200" dirty="0"/>
          </a:p>
        </p:txBody>
      </p:sp>
      <p:sp>
        <p:nvSpPr>
          <p:cNvPr id="4" name="Text 2"/>
          <p:cNvSpPr/>
          <p:nvPr/>
        </p:nvSpPr>
        <p:spPr>
          <a:xfrm>
            <a:off x="1737360" y="914400"/>
            <a:ext cx="7315200" cy="365760"/>
          </a:xfrm>
          <a:prstGeom prst="rect">
            <a:avLst/>
          </a:prstGeom>
          <a:noFill/>
          <a:ln/>
        </p:spPr>
        <p:txBody>
          <a:bodyPr wrap="square" lIns="0" tIns="0" rIns="0" bIns="0" rtlCol="0" anchor="ctr"/>
          <a:lstStyle/>
          <a:p>
            <a:pPr marL="0" indent="0">
              <a:buNone/>
            </a:pPr>
            <a:r>
              <a:rPr lang="en-US" sz="1200" b="1" kern="0" spc="800" dirty="0">
                <a:solidFill>
                  <a:srgbClr val="E1251B"/>
                </a:solidFill>
                <a:latin typeface="Calibri" pitchFamily="34" charset="0"/>
                <a:ea typeface="Calibri" pitchFamily="34" charset="-122"/>
                <a:cs typeface="Calibri" pitchFamily="34" charset="-120"/>
              </a:rPr>
              <a:t>FIN</a:t>
            </a:r>
            <a:endParaRPr lang="en-US" sz="1200" dirty="0"/>
          </a:p>
        </p:txBody>
      </p:sp>
      <p:sp>
        <p:nvSpPr>
          <p:cNvPr id="5" name="Text 3"/>
          <p:cNvSpPr/>
          <p:nvPr/>
        </p:nvSpPr>
        <p:spPr>
          <a:xfrm>
            <a:off x="1737360" y="1463040"/>
            <a:ext cx="10058400" cy="2194560"/>
          </a:xfrm>
          <a:prstGeom prst="rect">
            <a:avLst/>
          </a:prstGeom>
          <a:noFill/>
          <a:ln/>
        </p:spPr>
        <p:txBody>
          <a:bodyPr wrap="square" lIns="0" tIns="0" rIns="0" bIns="0" rtlCol="0" anchor="ctr"/>
          <a:lstStyle/>
          <a:p>
            <a:pPr marL="0" indent="0">
              <a:buNone/>
            </a:pPr>
            <a:r>
              <a:rPr lang="en-US" sz="18000" b="1" i="1" dirty="0">
                <a:solidFill>
                  <a:srgbClr val="0A0F1E"/>
                </a:solidFill>
                <a:latin typeface="Georgia" pitchFamily="34" charset="0"/>
                <a:ea typeface="Georgia" pitchFamily="34" charset="-122"/>
                <a:cs typeface="Georgia" pitchFamily="34" charset="-120"/>
              </a:rPr>
              <a:t>Merci.</a:t>
            </a:r>
            <a:endParaRPr lang="en-US" sz="18000" dirty="0"/>
          </a:p>
        </p:txBody>
      </p:sp>
      <p:sp>
        <p:nvSpPr>
          <p:cNvPr id="6" name="Text 4"/>
          <p:cNvSpPr/>
          <p:nvPr/>
        </p:nvSpPr>
        <p:spPr>
          <a:xfrm>
            <a:off x="1737360" y="4023360"/>
            <a:ext cx="10058400" cy="914400"/>
          </a:xfrm>
          <a:prstGeom prst="rect">
            <a:avLst/>
          </a:prstGeom>
          <a:noFill/>
          <a:ln/>
        </p:spPr>
        <p:txBody>
          <a:bodyPr wrap="square" lIns="0" tIns="0" rIns="0" bIns="0" rtlCol="0" anchor="ctr"/>
          <a:lstStyle/>
          <a:p>
            <a:pPr marL="0" indent="0">
              <a:buNone/>
            </a:pPr>
            <a:r>
              <a:rPr lang="en-US" sz="4400" dirty="0">
                <a:solidFill>
                  <a:srgbClr val="4A5063"/>
                </a:solidFill>
                <a:latin typeface="Georgia" pitchFamily="34" charset="0"/>
                <a:ea typeface="Georgia" pitchFamily="34" charset="-122"/>
                <a:cs typeface="Georgia" pitchFamily="34" charset="-120"/>
              </a:rPr>
              <a:t>Des </a:t>
            </a:r>
            <a:r>
              <a:rPr lang="en-US" sz="4400" i="1" dirty="0">
                <a:solidFill>
                  <a:srgbClr val="E1251B"/>
                </a:solidFill>
                <a:latin typeface="Georgia" pitchFamily="34" charset="0"/>
                <a:ea typeface="Georgia" pitchFamily="34" charset="-122"/>
                <a:cs typeface="Georgia" pitchFamily="34" charset="-120"/>
              </a:rPr>
              <a:t>questions</a:t>
            </a:r>
            <a:r>
              <a:rPr lang="en-US" sz="4400" dirty="0">
                <a:solidFill>
                  <a:srgbClr val="4A5063"/>
                </a:solidFill>
                <a:latin typeface="Georgia" pitchFamily="34" charset="0"/>
                <a:ea typeface="Georgia" pitchFamily="34" charset="-122"/>
                <a:cs typeface="Georgia" pitchFamily="34" charset="-120"/>
              </a:rPr>
              <a:t> ?</a:t>
            </a:r>
            <a:endParaRPr lang="en-US" sz="4400" dirty="0"/>
          </a:p>
        </p:txBody>
      </p:sp>
      <p:sp>
        <p:nvSpPr>
          <p:cNvPr id="7" name="Shape 5"/>
          <p:cNvSpPr/>
          <p:nvPr/>
        </p:nvSpPr>
        <p:spPr>
          <a:xfrm>
            <a:off x="1737360" y="5989320"/>
            <a:ext cx="10058400" cy="36576"/>
          </a:xfrm>
          <a:prstGeom prst="rect">
            <a:avLst/>
          </a:prstGeom>
          <a:solidFill>
            <a:srgbClr val="0A0F1E"/>
          </a:solidFill>
          <a:ln w="12700">
            <a:solidFill>
              <a:srgbClr val="0A0F1E"/>
            </a:solidFill>
            <a:prstDash val="solid"/>
          </a:ln>
        </p:spPr>
      </p:sp>
      <p:sp>
        <p:nvSpPr>
          <p:cNvPr id="8" name="Text 6"/>
          <p:cNvSpPr/>
          <p:nvPr/>
        </p:nvSpPr>
        <p:spPr>
          <a:xfrm>
            <a:off x="1737360" y="6126480"/>
            <a:ext cx="10058400" cy="365760"/>
          </a:xfrm>
          <a:prstGeom prst="rect">
            <a:avLst/>
          </a:prstGeom>
          <a:noFill/>
          <a:ln/>
        </p:spPr>
        <p:txBody>
          <a:bodyPr wrap="square" lIns="0" tIns="0" rIns="0" bIns="0" rtlCol="0" anchor="ctr"/>
          <a:lstStyle/>
          <a:p>
            <a:r>
              <a:rPr lang="en-US" sz="1100" b="1" kern="0" spc="400" dirty="0">
                <a:solidFill>
                  <a:srgbClr val="0A0F1E"/>
                </a:solidFill>
                <a:latin typeface="Calibri" pitchFamily="34" charset="0"/>
                <a:ea typeface="Calibri" pitchFamily="34" charset="-122"/>
                <a:cs typeface="Calibri" pitchFamily="34" charset="-120"/>
              </a:rPr>
              <a:t>AMINE AMMOR   ·   RIM AKRACHE   ·   UNIVERSITÉ MUNDIAPOLIS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1066</Words>
  <Application>Microsoft Office PowerPoint</Application>
  <PresentationFormat>Widescreen</PresentationFormat>
  <Paragraphs>196</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Consolas</vt:lpstr>
      <vt:lpstr>Georgia</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Resumind — Big Data</dc:title>
  <dc:subject>PptxGenJS Presentation</dc:subject>
  <dc:creator>Amine</dc:creator>
  <cp:lastModifiedBy>Amine Ammor</cp:lastModifiedBy>
  <cp:revision>2</cp:revision>
  <dcterms:created xsi:type="dcterms:W3CDTF">2026-05-20T00:07:16Z</dcterms:created>
  <dcterms:modified xsi:type="dcterms:W3CDTF">2026-05-20T00:09:50Z</dcterms:modified>
</cp:coreProperties>
</file>